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70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88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53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73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8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11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6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9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26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69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2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CC2A-5CFF-450D-AB10-594363CFED2D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52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Shopify logo and symbol, meaning, history, PNG"/>
          <p:cNvSpPr>
            <a:spLocks noChangeAspect="1" noChangeArrowheads="1"/>
          </p:cNvSpPr>
          <p:nvPr/>
        </p:nvSpPr>
        <p:spPr bwMode="auto">
          <a:xfrm>
            <a:off x="749265" y="212671"/>
            <a:ext cx="274338" cy="27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302" tIns="41151" rIns="82302" bIns="41151" numCol="1" anchor="t" anchorCtr="0" compatLnSpc="1">
            <a:prstTxWarp prst="textNoShape">
              <a:avLst/>
            </a:prstTxWarp>
          </a:bodyPr>
          <a:lstStyle/>
          <a:p>
            <a:endParaRPr lang="en-AU" sz="126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661521" y="3255546"/>
            <a:ext cx="684847" cy="192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3758" y="3213395"/>
            <a:ext cx="2157129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Existing                       Frontend</a:t>
            </a:r>
            <a:endParaRPr lang="en-AU" sz="126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13736" y="1878695"/>
            <a:ext cx="208497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dirty="0"/>
              <a:t>URL: https://celrevive.com/</a:t>
            </a:r>
            <a:endParaRPr lang="en-AU" sz="1260" dirty="0"/>
          </a:p>
        </p:txBody>
      </p:sp>
      <p:sp>
        <p:nvSpPr>
          <p:cNvPr id="11" name="TextBox 10"/>
          <p:cNvSpPr txBox="1"/>
          <p:nvPr/>
        </p:nvSpPr>
        <p:spPr>
          <a:xfrm>
            <a:off x="5790529" y="1639005"/>
            <a:ext cx="93961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DNS Server</a:t>
            </a:r>
            <a:endParaRPr lang="en-AU" sz="1260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6356221" y="2164927"/>
            <a:ext cx="1705344" cy="95472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6301354" y="994173"/>
            <a:ext cx="0" cy="6654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439" y="286281"/>
            <a:ext cx="1135830" cy="70789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6168182" y="473731"/>
            <a:ext cx="443303" cy="226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78865" y="3477738"/>
            <a:ext cx="224253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Authentication UI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UI (Partial)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Create Order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- Card etc. (Issues)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956711" y="3119655"/>
            <a:ext cx="2209708" cy="2406148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10" name="Rectangle 9"/>
          <p:cNvSpPr/>
          <p:nvPr/>
        </p:nvSpPr>
        <p:spPr>
          <a:xfrm>
            <a:off x="5305486" y="1659581"/>
            <a:ext cx="1991736" cy="52229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4" name="TextBox 33"/>
          <p:cNvSpPr txBox="1"/>
          <p:nvPr/>
        </p:nvSpPr>
        <p:spPr>
          <a:xfrm>
            <a:off x="9521672" y="3213394"/>
            <a:ext cx="1669240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API/ Backend Services</a:t>
            </a:r>
            <a:endParaRPr lang="en-AU" sz="126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9576656" y="3448263"/>
            <a:ext cx="16093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err="1"/>
              <a:t>Auth</a:t>
            </a:r>
            <a:r>
              <a:rPr lang="en-US" sz="1260" dirty="0"/>
              <a:t>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API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Order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API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9472897" y="3032701"/>
            <a:ext cx="1753574" cy="2471311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6" name="Left-Right Arrow 35"/>
          <p:cNvSpPr/>
          <p:nvPr/>
        </p:nvSpPr>
        <p:spPr>
          <a:xfrm>
            <a:off x="9016145" y="4146054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48" name="TextBox 47"/>
          <p:cNvSpPr txBox="1"/>
          <p:nvPr/>
        </p:nvSpPr>
        <p:spPr>
          <a:xfrm>
            <a:off x="4216526" y="3232994"/>
            <a:ext cx="18176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Frontend Enhancements</a:t>
            </a:r>
            <a:endParaRPr lang="en-AU" sz="126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221633" y="3497336"/>
            <a:ext cx="2242538" cy="280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Questionnaire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Image Analysis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Detail Out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Order Returns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Fix Existing Issues (?)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8882" y="3164582"/>
            <a:ext cx="2209708" cy="2730902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51" name="TextBox 50"/>
          <p:cNvSpPr txBox="1"/>
          <p:nvPr/>
        </p:nvSpPr>
        <p:spPr>
          <a:xfrm>
            <a:off x="1372007" y="3232994"/>
            <a:ext cx="2169825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New/ Enhanced API/ Services</a:t>
            </a:r>
            <a:endParaRPr lang="en-AU" sz="126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034180" y="3535217"/>
            <a:ext cx="286312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Image Analysis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 Service</a:t>
            </a:r>
          </a:p>
          <a:p>
            <a:r>
              <a:rPr lang="en-US" sz="1260" dirty="0"/>
              <a:t>        Image, Questionnaire &amp; Profile based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Profile Analysis Service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API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Returns API (?)</a:t>
            </a:r>
          </a:p>
        </p:txBody>
      </p:sp>
      <p:sp>
        <p:nvSpPr>
          <p:cNvPr id="53" name="Flowchart: Magnetic Disk 52"/>
          <p:cNvSpPr/>
          <p:nvPr/>
        </p:nvSpPr>
        <p:spPr>
          <a:xfrm>
            <a:off x="941795" y="2839829"/>
            <a:ext cx="2955508" cy="3055656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237690" y="3910706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237690" y="4302581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224839" y="5093674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080" y="4530032"/>
            <a:ext cx="434734" cy="51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43" b="1" dirty="0">
                <a:solidFill>
                  <a:srgbClr val="0070C0"/>
                </a:solidFill>
              </a:rPr>
              <a:t>…</a:t>
            </a:r>
            <a:endParaRPr lang="en-AU" sz="1372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3751121" y="4542099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</p:spTree>
    <p:extLst>
      <p:ext uri="{BB962C8B-B14F-4D97-AF65-F5344CB8AC3E}">
        <p14:creationId xmlns:p14="http://schemas.microsoft.com/office/powerpoint/2010/main" val="106792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2734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Questionnaire + answers {demographic, lifestyle, issues, etc.}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733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Image {}</a:t>
            </a:r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862919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Arrow 6"/>
          <p:cNvSpPr/>
          <p:nvPr/>
        </p:nvSpPr>
        <p:spPr>
          <a:xfrm>
            <a:off x="1862918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395180" y="675564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1</a:t>
            </a:r>
            <a:endParaRPr lang="en-AU" dirty="0"/>
          </a:p>
        </p:txBody>
      </p:sp>
      <p:sp>
        <p:nvSpPr>
          <p:cNvPr id="9" name="Oval 8"/>
          <p:cNvSpPr/>
          <p:nvPr/>
        </p:nvSpPr>
        <p:spPr>
          <a:xfrm>
            <a:off x="2395179" y="1862918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2</a:t>
            </a:r>
            <a:endParaRPr lang="en-AU" dirty="0"/>
          </a:p>
        </p:txBody>
      </p:sp>
      <p:sp>
        <p:nvSpPr>
          <p:cNvPr id="11" name="Right Arrow 10"/>
          <p:cNvSpPr/>
          <p:nvPr/>
        </p:nvSpPr>
        <p:spPr>
          <a:xfrm>
            <a:off x="3275461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ight Arrow 11"/>
          <p:cNvSpPr/>
          <p:nvPr/>
        </p:nvSpPr>
        <p:spPr>
          <a:xfrm>
            <a:off x="3275460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3807722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s</a:t>
            </a:r>
            <a:r>
              <a:rPr lang="en-US" sz="1100" dirty="0" smtClean="0">
                <a:solidFill>
                  <a:schemeClr val="tx1"/>
                </a:solidFill>
              </a:rPr>
              <a:t>kin type?</a:t>
            </a:r>
          </a:p>
          <a:p>
            <a:endParaRPr lang="en-US" sz="1100" dirty="0" smtClean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11988" y="4943900"/>
            <a:ext cx="2224585" cy="1317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Formula (Base + Active)</a:t>
            </a:r>
          </a:p>
          <a:p>
            <a:pPr algn="ctr"/>
            <a:r>
              <a:rPr lang="en-US" dirty="0" smtClean="0"/>
              <a:t>Recommendation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06973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benefits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4724400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active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1092958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</a:t>
            </a:r>
            <a:r>
              <a:rPr lang="en-US" sz="1400" dirty="0" err="1" smtClean="0"/>
              <a:t>kin_concern</a:t>
            </a:r>
            <a:endParaRPr lang="en-AU" sz="1400" dirty="0"/>
          </a:p>
        </p:txBody>
      </p:sp>
      <p:sp>
        <p:nvSpPr>
          <p:cNvPr id="19" name="Rectangle 18"/>
          <p:cNvSpPr/>
          <p:nvPr/>
        </p:nvSpPr>
        <p:spPr>
          <a:xfrm>
            <a:off x="6064155" y="3568622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base</a:t>
            </a:r>
            <a:endParaRPr lang="en-AU" dirty="0"/>
          </a:p>
        </p:txBody>
      </p:sp>
      <p:sp>
        <p:nvSpPr>
          <p:cNvPr id="20" name="Rectangle 19"/>
          <p:cNvSpPr/>
          <p:nvPr/>
        </p:nvSpPr>
        <p:spPr>
          <a:xfrm>
            <a:off x="2538480" y="3568622"/>
            <a:ext cx="3153769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Age, </a:t>
            </a:r>
            <a:r>
              <a:rPr lang="en-US" dirty="0" err="1" smtClean="0"/>
              <a:t>Skin_type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Acne </a:t>
            </a:r>
            <a:r>
              <a:rPr lang="en-US" dirty="0" err="1" smtClean="0"/>
              <a:t>Sutable</a:t>
            </a:r>
            <a:r>
              <a:rPr lang="en-US" dirty="0" smtClean="0"/>
              <a:t>, </a:t>
            </a:r>
            <a:r>
              <a:rPr lang="en-AU" dirty="0"/>
              <a:t>Climate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722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50168" y="579608"/>
            <a:ext cx="6388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: {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0,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"Dry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 smtClean="0"/>
              <a:t>severity_pc</a:t>
            </a:r>
            <a:r>
              <a:rPr lang="en-US" sz="1100" dirty="0"/>
              <a:t>: null, 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1,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"Dehydrated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2,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"Compromised Skin Barrier“,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3,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"Sensitive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}</a:t>
            </a:r>
          </a:p>
          <a:p>
            <a:r>
              <a:rPr lang="en-US" sz="1100" dirty="0" smtClean="0"/>
              <a:t>prompt = “given the image in the &lt;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 &gt; get me the &lt;</a:t>
            </a:r>
            <a:r>
              <a:rPr lang="en-US" sz="1100" dirty="0" err="1" smtClean="0"/>
              <a:t>s</a:t>
            </a:r>
            <a:r>
              <a:rPr lang="en-US" sz="1100" dirty="0" err="1" smtClean="0">
                <a:solidFill>
                  <a:schemeClr val="tx1"/>
                </a:solidFill>
              </a:rPr>
              <a:t>kin_concerns.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&gt; populated …”</a:t>
            </a:r>
          </a:p>
          <a:p>
            <a:r>
              <a:rPr lang="en-US" sz="1100" dirty="0" err="1"/>
              <a:t>r</a:t>
            </a:r>
            <a:r>
              <a:rPr lang="en-US" sz="1100" dirty="0" err="1" smtClean="0"/>
              <a:t>et_obj</a:t>
            </a:r>
            <a:r>
              <a:rPr lang="en-US" sz="1100" dirty="0" smtClean="0"/>
              <a:t> = </a:t>
            </a:r>
            <a:r>
              <a:rPr lang="en-US" sz="1100" dirty="0" err="1" smtClean="0"/>
              <a:t>get_info_from_ai</a:t>
            </a:r>
            <a:r>
              <a:rPr lang="en-US" sz="1100" dirty="0" smtClean="0"/>
              <a:t>(</a:t>
            </a:r>
            <a:r>
              <a:rPr lang="en-US" sz="1100" dirty="0" err="1" smtClean="0"/>
              <a:t>model_name</a:t>
            </a:r>
            <a:r>
              <a:rPr lang="en-US" sz="1100" dirty="0" smtClean="0"/>
              <a:t>, </a:t>
            </a:r>
            <a:r>
              <a:rPr lang="en-US" sz="1100" dirty="0" err="1" smtClean="0"/>
              <a:t>model_API_key</a:t>
            </a:r>
            <a:r>
              <a:rPr lang="en-US" sz="1100" dirty="0" smtClean="0"/>
              <a:t>, …, 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, </a:t>
            </a:r>
            <a:r>
              <a:rPr lang="en-US" sz="1100" dirty="0" err="1" smtClean="0"/>
              <a:t>prompt_string</a:t>
            </a:r>
            <a:r>
              <a:rPr lang="en-US" sz="1100" dirty="0" smtClean="0"/>
              <a:t>)</a:t>
            </a:r>
            <a:endParaRPr lang="en-AU" sz="1100" dirty="0"/>
          </a:p>
        </p:txBody>
      </p:sp>
      <p:sp>
        <p:nvSpPr>
          <p:cNvPr id="23" name="Oval 22"/>
          <p:cNvSpPr/>
          <p:nvPr/>
        </p:nvSpPr>
        <p:spPr>
          <a:xfrm>
            <a:off x="6598693" y="4971196"/>
            <a:ext cx="1480782" cy="10986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68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764" y="203235"/>
            <a:ext cx="8187501" cy="57922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sp>
        <p:nvSpPr>
          <p:cNvPr id="40" name="Left Arrow 39"/>
          <p:cNvSpPr/>
          <p:nvPr/>
        </p:nvSpPr>
        <p:spPr>
          <a:xfrm rot="12961895">
            <a:off x="3970934" y="2835936"/>
            <a:ext cx="6352092" cy="3636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24" name="Rectangle 23"/>
          <p:cNvSpPr/>
          <p:nvPr/>
        </p:nvSpPr>
        <p:spPr>
          <a:xfrm>
            <a:off x="5994160" y="2503562"/>
            <a:ext cx="1559876" cy="370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14" dirty="0">
                <a:solidFill>
                  <a:schemeClr val="tx1"/>
                </a:solidFill>
              </a:rPr>
              <a:t>Concatenate 2 or 3 answers to questionnaire questions</a:t>
            </a:r>
            <a:endParaRPr lang="en-AU" sz="914" dirty="0">
              <a:solidFill>
                <a:schemeClr val="tx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9107228" y="4111837"/>
            <a:ext cx="1596243" cy="397494"/>
            <a:chOff x="4200525" y="2438400"/>
            <a:chExt cx="2094700" cy="2984430"/>
          </a:xfrm>
        </p:grpSpPr>
        <p:sp>
          <p:nvSpPr>
            <p:cNvPr id="27" name="Folded Corner 26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85895" y="2617108"/>
              <a:ext cx="2009330" cy="2805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r>
                <a:rPr lang="en-US" sz="914" dirty="0"/>
                <a:t>Serum + Vitamin C + 8 hours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6515890" y="507351"/>
            <a:ext cx="1261387" cy="271709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950967" y="702860"/>
            <a:ext cx="1812102" cy="880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4"/>
            <a:ext cx="473206" cy="545647"/>
            <a:chOff x="3337214" y="1450230"/>
            <a:chExt cx="620974" cy="716036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37214" y="1863352"/>
              <a:ext cx="620974" cy="3029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Image</a:t>
              </a:r>
              <a:endParaRPr lang="en-AU" sz="900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682362" y="869364"/>
            <a:ext cx="914838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Questionnaire</a:t>
            </a:r>
            <a:endParaRPr lang="en-AU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3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39978" y="159685"/>
            <a:ext cx="8434288" cy="5792222"/>
            <a:chOff x="942975" y="419100"/>
            <a:chExt cx="4981575" cy="7600951"/>
          </a:xfrm>
        </p:grpSpPr>
        <p:sp>
          <p:nvSpPr>
            <p:cNvPr id="2" name="Rectangle 1"/>
            <p:cNvSpPr/>
            <p:nvPr/>
          </p:nvSpPr>
          <p:spPr>
            <a:xfrm>
              <a:off x="942975" y="419100"/>
              <a:ext cx="4981575" cy="76009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939887" y="4459868"/>
            <a:ext cx="1406908" cy="460105"/>
            <a:chOff x="4200525" y="2413236"/>
            <a:chExt cx="2047875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14067" y="2413236"/>
              <a:ext cx="1462346" cy="586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 smtClean="0"/>
                <a:t>Visual </a:t>
              </a:r>
              <a:r>
                <a:rPr lang="en-US" sz="914" dirty="0"/>
                <a:t>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…</a:t>
              </a:r>
              <a:endParaRPr lang="en-US" sz="914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3094753" y="1435828"/>
            <a:ext cx="339542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49561" y="174455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0972" y="1985715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9" name="Left Arrow 58"/>
          <p:cNvSpPr/>
          <p:nvPr/>
        </p:nvSpPr>
        <p:spPr>
          <a:xfrm rot="16200000">
            <a:off x="3927466" y="1693507"/>
            <a:ext cx="915454" cy="318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6" name="TextBox 45"/>
          <p:cNvSpPr txBox="1"/>
          <p:nvPr/>
        </p:nvSpPr>
        <p:spPr>
          <a:xfrm>
            <a:off x="3141436" y="1342810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Left Arrow 98"/>
          <p:cNvSpPr/>
          <p:nvPr/>
        </p:nvSpPr>
        <p:spPr>
          <a:xfrm rot="12712082">
            <a:off x="3229161" y="3475591"/>
            <a:ext cx="4012336" cy="328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 rot="1972269">
            <a:off x="5241689" y="3749793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152043" y="352133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90240" y="185030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43" name="Rectangle 42"/>
          <p:cNvSpPr/>
          <p:nvPr/>
        </p:nvSpPr>
        <p:spPr>
          <a:xfrm>
            <a:off x="2706922" y="2293660"/>
            <a:ext cx="1297587" cy="37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152321" y="196973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903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42458" y="3889229"/>
            <a:ext cx="1765907" cy="1921167"/>
            <a:chOff x="4200525" y="2413236"/>
            <a:chExt cx="2157723" cy="3015801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92639" y="2413236"/>
              <a:ext cx="2065609" cy="301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strike="sngStrike" dirty="0"/>
                <a:t>Price: $20</a:t>
              </a:r>
              <a:endParaRPr lang="en-AU" sz="914" strike="sngStrike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829259" y="3941341"/>
            <a:ext cx="3288578" cy="407993"/>
            <a:chOff x="2951322" y="3685146"/>
            <a:chExt cx="3096015" cy="535396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              LLM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685146"/>
              <a:ext cx="663340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dirty="0"/>
                <a:t>RAG</a:t>
              </a:r>
              <a:endParaRPr lang="en-AU" sz="914" dirty="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784306" y="4225409"/>
            <a:ext cx="484411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4077027" y="219164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/>
              <a:t>LLM</a:t>
            </a:r>
            <a:endParaRPr lang="en-AU" sz="914" dirty="0"/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39763" y="2419964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741860" y="3715506"/>
            <a:ext cx="541217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69898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44556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75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01513" y="3585146"/>
            <a:ext cx="1959148" cy="2248788"/>
            <a:chOff x="4200525" y="2413236"/>
            <a:chExt cx="2393841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50948" y="2413236"/>
              <a:ext cx="2343418" cy="285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Size based Price Options: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50gms - $N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100gms - $M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Reorganized &amp; Optimized</a:t>
            </a:r>
            <a:r>
              <a:rPr lang="en-US" sz="914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590424" y="3859339"/>
            <a:ext cx="3846470" cy="540363"/>
            <a:chOff x="2951322" y="3577539"/>
            <a:chExt cx="3096015" cy="709101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Deterministic Rule </a:t>
              </a:r>
              <a:r>
                <a:rPr lang="en-US" sz="914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Engine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/>
              </a:r>
              <a:b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914" strike="sngStrike" dirty="0" smtClean="0"/>
                <a:t>LLM</a:t>
              </a:r>
              <a:r>
                <a:rPr lang="en-US" sz="914" dirty="0" smtClean="0"/>
                <a:t>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577539"/>
              <a:ext cx="663340" cy="7091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strike="sngStrike" dirty="0" smtClean="0"/>
                <a:t>RAG</a:t>
              </a:r>
              <a:r>
                <a:rPr lang="en-US" sz="914" dirty="0" smtClean="0"/>
                <a:t>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Proprietary Knowledge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861082" y="4334593"/>
            <a:ext cx="330859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3965677" y="2101268"/>
            <a:ext cx="895508" cy="42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strike="sngStrik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</a:p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Deterministic Rule Engine 1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68221" y="2501852"/>
            <a:ext cx="271026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809156" y="3626794"/>
            <a:ext cx="406624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576152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30908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 flipH="1">
            <a:off x="1362603" y="1372104"/>
            <a:ext cx="5496494" cy="4340504"/>
          </a:xfrm>
          <a:prstGeom prst="bentArrow">
            <a:avLst>
              <a:gd name="adj1" fmla="val 4004"/>
              <a:gd name="adj2" fmla="val 2831"/>
              <a:gd name="adj3" fmla="val 2892"/>
              <a:gd name="adj4" fmla="val 9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48128" y="5459068"/>
            <a:ext cx="840295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 selection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431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6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2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0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3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551</Words>
  <Application>Microsoft Office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26</cp:revision>
  <dcterms:created xsi:type="dcterms:W3CDTF">2026-08-14T03:15:05Z</dcterms:created>
  <dcterms:modified xsi:type="dcterms:W3CDTF">2026-09-15T10:18:44Z</dcterms:modified>
</cp:coreProperties>
</file>