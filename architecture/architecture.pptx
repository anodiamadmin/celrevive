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25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30708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7885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6534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2733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5180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78119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0664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7197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2262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3569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09278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9521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2" descr="Shopify logo and symbol, meaning, history, PNG"/>
          <p:cNvSpPr>
            <a:spLocks noChangeAspect="1" noChangeArrowheads="1"/>
          </p:cNvSpPr>
          <p:nvPr/>
        </p:nvSpPr>
        <p:spPr bwMode="auto">
          <a:xfrm>
            <a:off x="749265" y="212671"/>
            <a:ext cx="274338" cy="274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82302" tIns="41151" rIns="82302" bIns="41151" numCol="1" anchor="t" anchorCtr="0" compatLnSpc="1">
            <a:prstTxWarp prst="textNoShape">
              <a:avLst/>
            </a:prstTxWarp>
          </a:bodyPr>
          <a:lstStyle/>
          <a:p>
            <a:endParaRPr lang="en-AU" sz="126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2" b="26164"/>
          <a:stretch/>
        </p:blipFill>
        <p:spPr>
          <a:xfrm>
            <a:off x="7661521" y="3255546"/>
            <a:ext cx="684847" cy="1927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73758" y="3213395"/>
            <a:ext cx="2157129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Existing                       Frontend</a:t>
            </a:r>
            <a:endParaRPr lang="en-AU" sz="1260" b="1" dirty="0"/>
          </a:p>
        </p:txBody>
      </p:sp>
      <p:sp>
        <p:nvSpPr>
          <p:cNvPr id="9" name="TextBox 8"/>
          <p:cNvSpPr txBox="1"/>
          <p:nvPr/>
        </p:nvSpPr>
        <p:spPr>
          <a:xfrm>
            <a:off x="5313736" y="1878695"/>
            <a:ext cx="2084970" cy="2862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60" dirty="0"/>
              <a:t>URL: https://celrevive.com/</a:t>
            </a:r>
            <a:endParaRPr lang="en-AU" sz="1260" dirty="0"/>
          </a:p>
        </p:txBody>
      </p:sp>
      <p:sp>
        <p:nvSpPr>
          <p:cNvPr id="11" name="TextBox 10"/>
          <p:cNvSpPr txBox="1"/>
          <p:nvPr/>
        </p:nvSpPr>
        <p:spPr>
          <a:xfrm>
            <a:off x="5790529" y="1639005"/>
            <a:ext cx="939616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DNS Server</a:t>
            </a:r>
            <a:endParaRPr lang="en-AU" sz="1260" b="1" dirty="0"/>
          </a:p>
        </p:txBody>
      </p:sp>
      <p:cxnSp>
        <p:nvCxnSpPr>
          <p:cNvPr id="13" name="Straight Arrow Connector 12"/>
          <p:cNvCxnSpPr>
            <a:stCxn id="4" idx="0"/>
            <a:endCxn id="9" idx="2"/>
          </p:cNvCxnSpPr>
          <p:nvPr/>
        </p:nvCxnSpPr>
        <p:spPr>
          <a:xfrm flipH="1" flipV="1">
            <a:off x="6356221" y="2164927"/>
            <a:ext cx="1705344" cy="954728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0" idx="0"/>
            <a:endCxn id="23" idx="2"/>
          </p:cNvCxnSpPr>
          <p:nvPr/>
        </p:nvCxnSpPr>
        <p:spPr>
          <a:xfrm flipV="1">
            <a:off x="6301354" y="994173"/>
            <a:ext cx="0" cy="665408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3439" y="286281"/>
            <a:ext cx="1135830" cy="707892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60" b="29958"/>
          <a:stretch/>
        </p:blipFill>
        <p:spPr>
          <a:xfrm>
            <a:off x="6168182" y="473731"/>
            <a:ext cx="443303" cy="22657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78865" y="3477738"/>
            <a:ext cx="2242538" cy="24191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Authentication UI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User Profile UI (Partial)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Shopping Cart (UX Issues)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Create Order (UX Issues)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Purchase - Card etc. (Issues)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956711" y="3119655"/>
            <a:ext cx="2209708" cy="2406148"/>
          </a:xfrm>
          <a:prstGeom prst="rect">
            <a:avLst/>
          </a:prstGeom>
          <a:solidFill>
            <a:schemeClr val="accent6">
              <a:lumMod val="60000"/>
              <a:lumOff val="40000"/>
              <a:alpha val="16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sp>
        <p:nvSpPr>
          <p:cNvPr id="10" name="Rectangle 9"/>
          <p:cNvSpPr/>
          <p:nvPr/>
        </p:nvSpPr>
        <p:spPr>
          <a:xfrm>
            <a:off x="5305486" y="1659581"/>
            <a:ext cx="1991736" cy="522297"/>
          </a:xfrm>
          <a:prstGeom prst="rect">
            <a:avLst/>
          </a:prstGeom>
          <a:solidFill>
            <a:schemeClr val="accent6">
              <a:lumMod val="60000"/>
              <a:lumOff val="40000"/>
              <a:alpha val="16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sp>
        <p:nvSpPr>
          <p:cNvPr id="34" name="TextBox 33"/>
          <p:cNvSpPr txBox="1"/>
          <p:nvPr/>
        </p:nvSpPr>
        <p:spPr>
          <a:xfrm>
            <a:off x="9521672" y="3213394"/>
            <a:ext cx="1669240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API/ Backend Services</a:t>
            </a:r>
            <a:endParaRPr lang="en-AU" sz="1260" b="1" dirty="0"/>
          </a:p>
        </p:txBody>
      </p:sp>
      <p:sp>
        <p:nvSpPr>
          <p:cNvPr id="38" name="TextBox 37"/>
          <p:cNvSpPr txBox="1"/>
          <p:nvPr/>
        </p:nvSpPr>
        <p:spPr>
          <a:xfrm>
            <a:off x="9576656" y="3448263"/>
            <a:ext cx="16093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 err="1"/>
              <a:t>Auth</a:t>
            </a:r>
            <a:r>
              <a:rPr lang="en-US" sz="1260" dirty="0"/>
              <a:t> Service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User Profile API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Shopping Cart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Order Service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Purchase API</a:t>
            </a:r>
          </a:p>
        </p:txBody>
      </p:sp>
      <p:sp>
        <p:nvSpPr>
          <p:cNvPr id="32" name="Flowchart: Magnetic Disk 31"/>
          <p:cNvSpPr/>
          <p:nvPr/>
        </p:nvSpPr>
        <p:spPr>
          <a:xfrm>
            <a:off x="9472897" y="3032701"/>
            <a:ext cx="1753574" cy="2471311"/>
          </a:xfrm>
          <a:prstGeom prst="flowChartMagneticDisk">
            <a:avLst/>
          </a:prstGeom>
          <a:solidFill>
            <a:schemeClr val="accent6">
              <a:lumMod val="60000"/>
              <a:lumOff val="40000"/>
              <a:alpha val="16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sp>
        <p:nvSpPr>
          <p:cNvPr id="36" name="Left-Right Arrow 35"/>
          <p:cNvSpPr/>
          <p:nvPr/>
        </p:nvSpPr>
        <p:spPr>
          <a:xfrm>
            <a:off x="9016145" y="4146054"/>
            <a:ext cx="603944" cy="396045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990"/>
          </a:p>
        </p:txBody>
      </p:sp>
      <p:sp>
        <p:nvSpPr>
          <p:cNvPr id="48" name="TextBox 47"/>
          <p:cNvSpPr txBox="1"/>
          <p:nvPr/>
        </p:nvSpPr>
        <p:spPr>
          <a:xfrm>
            <a:off x="4216526" y="3232994"/>
            <a:ext cx="1817613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Frontend Enhancements</a:t>
            </a:r>
            <a:endParaRPr lang="en-AU" sz="1260" b="1" dirty="0"/>
          </a:p>
        </p:txBody>
      </p:sp>
      <p:sp>
        <p:nvSpPr>
          <p:cNvPr id="49" name="TextBox 48"/>
          <p:cNvSpPr txBox="1"/>
          <p:nvPr/>
        </p:nvSpPr>
        <p:spPr>
          <a:xfrm>
            <a:off x="4221633" y="3497336"/>
            <a:ext cx="2242538" cy="28069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Questionnaire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User Image Analysis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Recommendation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Profile Detail Out (?)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Support &amp; Order Returns (?)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Fix Existing Issues (?)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8882" y="3164582"/>
            <a:ext cx="2209708" cy="2730902"/>
          </a:xfrm>
          <a:prstGeom prst="rect">
            <a:avLst/>
          </a:prstGeom>
          <a:solidFill>
            <a:srgbClr val="FFC000">
              <a:alpha val="16000"/>
            </a:srgb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sp>
        <p:nvSpPr>
          <p:cNvPr id="51" name="TextBox 50"/>
          <p:cNvSpPr txBox="1"/>
          <p:nvPr/>
        </p:nvSpPr>
        <p:spPr>
          <a:xfrm>
            <a:off x="1372007" y="3232994"/>
            <a:ext cx="2169825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New/ Enhanced API/ Services</a:t>
            </a:r>
            <a:endParaRPr lang="en-AU" sz="1260" b="1" dirty="0"/>
          </a:p>
        </p:txBody>
      </p:sp>
      <p:sp>
        <p:nvSpPr>
          <p:cNvPr id="52" name="TextBox 51"/>
          <p:cNvSpPr txBox="1"/>
          <p:nvPr/>
        </p:nvSpPr>
        <p:spPr>
          <a:xfrm>
            <a:off x="1034180" y="3535217"/>
            <a:ext cx="2863123" cy="24191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AI Image Analysis Service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Recommendation Service</a:t>
            </a:r>
          </a:p>
          <a:p>
            <a:r>
              <a:rPr lang="en-US" sz="1260" dirty="0"/>
              <a:t>        Image, Questionnaire &amp; Profile based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AI Profile Analysis Service (?)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Profile API (?)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Support &amp; Returns API (?)</a:t>
            </a:r>
          </a:p>
        </p:txBody>
      </p:sp>
      <p:sp>
        <p:nvSpPr>
          <p:cNvPr id="53" name="Flowchart: Magnetic Disk 52"/>
          <p:cNvSpPr/>
          <p:nvPr/>
        </p:nvSpPr>
        <p:spPr>
          <a:xfrm>
            <a:off x="941795" y="2839829"/>
            <a:ext cx="2955508" cy="3055656"/>
          </a:xfrm>
          <a:prstGeom prst="flowChartMagneticDisk">
            <a:avLst/>
          </a:prstGeom>
          <a:solidFill>
            <a:srgbClr val="FFC000">
              <a:alpha val="16000"/>
            </a:srgb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6237690" y="3910706"/>
            <a:ext cx="971204" cy="930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6237690" y="4302581"/>
            <a:ext cx="971204" cy="930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6224839" y="5093674"/>
            <a:ext cx="971204" cy="930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492080" y="4530032"/>
            <a:ext cx="434734" cy="5144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43" b="1" dirty="0">
                <a:solidFill>
                  <a:srgbClr val="0070C0"/>
                </a:solidFill>
              </a:rPr>
              <a:t>…</a:t>
            </a:r>
            <a:endParaRPr lang="en-AU" sz="1372" b="1" dirty="0">
              <a:solidFill>
                <a:srgbClr val="0070C0"/>
              </a:solidFill>
            </a:endParaRPr>
          </a:p>
        </p:txBody>
      </p:sp>
      <p:sp>
        <p:nvSpPr>
          <p:cNvPr id="64" name="Left-Right Arrow 63"/>
          <p:cNvSpPr/>
          <p:nvPr/>
        </p:nvSpPr>
        <p:spPr>
          <a:xfrm>
            <a:off x="3751121" y="4542099"/>
            <a:ext cx="603944" cy="396045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990"/>
          </a:p>
        </p:txBody>
      </p:sp>
    </p:spTree>
    <p:extLst>
      <p:ext uri="{BB962C8B-B14F-4D97-AF65-F5344CB8AC3E}">
        <p14:creationId xmlns:p14="http://schemas.microsoft.com/office/powerpoint/2010/main" val="1067928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52734" y="675564"/>
            <a:ext cx="1310185" cy="8052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solidFill>
                  <a:schemeClr val="tx1"/>
                </a:solidFill>
              </a:rPr>
              <a:t>Questionnaire + answers {demographic, lifestyle, issues, etc.}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733" y="1817426"/>
            <a:ext cx="1310185" cy="8575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solidFill>
                  <a:schemeClr val="tx1"/>
                </a:solidFill>
              </a:rPr>
              <a:t>Image {}</a:t>
            </a:r>
            <a:endParaRPr lang="en-AU" sz="1100" dirty="0">
              <a:solidFill>
                <a:schemeClr val="tx1"/>
              </a:solidFill>
            </a:endParaRPr>
          </a:p>
        </p:txBody>
      </p:sp>
      <p:sp>
        <p:nvSpPr>
          <p:cNvPr id="6" name="Right Arrow 5"/>
          <p:cNvSpPr/>
          <p:nvPr/>
        </p:nvSpPr>
        <p:spPr>
          <a:xfrm>
            <a:off x="1862919" y="928047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ight Arrow 6"/>
          <p:cNvSpPr/>
          <p:nvPr/>
        </p:nvSpPr>
        <p:spPr>
          <a:xfrm>
            <a:off x="1862918" y="2099479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Oval 7"/>
          <p:cNvSpPr/>
          <p:nvPr/>
        </p:nvSpPr>
        <p:spPr>
          <a:xfrm>
            <a:off x="2395180" y="675564"/>
            <a:ext cx="880281" cy="76654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AI 1</a:t>
            </a:r>
            <a:endParaRPr lang="en-AU" dirty="0"/>
          </a:p>
        </p:txBody>
      </p:sp>
      <p:sp>
        <p:nvSpPr>
          <p:cNvPr id="9" name="Oval 8"/>
          <p:cNvSpPr/>
          <p:nvPr/>
        </p:nvSpPr>
        <p:spPr>
          <a:xfrm>
            <a:off x="2395179" y="1862918"/>
            <a:ext cx="880281" cy="76654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AI 2</a:t>
            </a:r>
            <a:endParaRPr lang="en-AU" dirty="0"/>
          </a:p>
        </p:txBody>
      </p:sp>
      <p:sp>
        <p:nvSpPr>
          <p:cNvPr id="11" name="Right Arrow 10"/>
          <p:cNvSpPr/>
          <p:nvPr/>
        </p:nvSpPr>
        <p:spPr>
          <a:xfrm>
            <a:off x="3275461" y="928047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ight Arrow 11"/>
          <p:cNvSpPr/>
          <p:nvPr/>
        </p:nvSpPr>
        <p:spPr>
          <a:xfrm>
            <a:off x="3275460" y="2099479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/>
          <p:cNvSpPr/>
          <p:nvPr/>
        </p:nvSpPr>
        <p:spPr>
          <a:xfrm>
            <a:off x="3807722" y="675564"/>
            <a:ext cx="1310185" cy="8052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 (SC00--, SC20--)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s</a:t>
            </a:r>
            <a:r>
              <a:rPr lang="en-US" sz="1100" dirty="0" smtClean="0">
                <a:solidFill>
                  <a:schemeClr val="tx1"/>
                </a:solidFill>
              </a:rPr>
              <a:t>kin type?</a:t>
            </a:r>
          </a:p>
          <a:p>
            <a:endParaRPr lang="en-US" sz="1100" dirty="0" smtClean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911988" y="4943900"/>
            <a:ext cx="2224585" cy="13170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Formula (Base + Active)</a:t>
            </a:r>
          </a:p>
          <a:p>
            <a:pPr algn="ctr"/>
            <a:r>
              <a:rPr lang="en-US" dirty="0" smtClean="0"/>
              <a:t>Recommendation</a:t>
            </a:r>
            <a:endParaRPr lang="en-AU" dirty="0"/>
          </a:p>
        </p:txBody>
      </p:sp>
      <p:sp>
        <p:nvSpPr>
          <p:cNvPr id="16" name="Rectangle 15"/>
          <p:cNvSpPr/>
          <p:nvPr/>
        </p:nvSpPr>
        <p:spPr>
          <a:xfrm>
            <a:off x="2906973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benefits</a:t>
            </a:r>
            <a:endParaRPr lang="en-AU" dirty="0"/>
          </a:p>
        </p:txBody>
      </p:sp>
      <p:sp>
        <p:nvSpPr>
          <p:cNvPr id="17" name="Rectangle 16"/>
          <p:cNvSpPr/>
          <p:nvPr/>
        </p:nvSpPr>
        <p:spPr>
          <a:xfrm>
            <a:off x="4724400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active</a:t>
            </a:r>
            <a:endParaRPr lang="en-AU" dirty="0"/>
          </a:p>
        </p:txBody>
      </p:sp>
      <p:sp>
        <p:nvSpPr>
          <p:cNvPr id="18" name="Rectangle 17"/>
          <p:cNvSpPr/>
          <p:nvPr/>
        </p:nvSpPr>
        <p:spPr>
          <a:xfrm>
            <a:off x="1092958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</a:t>
            </a:r>
            <a:r>
              <a:rPr lang="en-US" sz="1400" dirty="0" err="1" smtClean="0"/>
              <a:t>kin_concern</a:t>
            </a:r>
            <a:endParaRPr lang="en-AU" sz="1400" dirty="0"/>
          </a:p>
        </p:txBody>
      </p:sp>
      <p:sp>
        <p:nvSpPr>
          <p:cNvPr id="19" name="Rectangle 18"/>
          <p:cNvSpPr/>
          <p:nvPr/>
        </p:nvSpPr>
        <p:spPr>
          <a:xfrm>
            <a:off x="6064155" y="3568622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base</a:t>
            </a:r>
            <a:endParaRPr lang="en-AU" dirty="0"/>
          </a:p>
        </p:txBody>
      </p:sp>
      <p:sp>
        <p:nvSpPr>
          <p:cNvPr id="20" name="Rectangle 19"/>
          <p:cNvSpPr/>
          <p:nvPr/>
        </p:nvSpPr>
        <p:spPr>
          <a:xfrm>
            <a:off x="2538480" y="3568622"/>
            <a:ext cx="3153769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Age, </a:t>
            </a:r>
            <a:r>
              <a:rPr lang="en-US" dirty="0" err="1" smtClean="0"/>
              <a:t>Skin_type</a:t>
            </a:r>
            <a:r>
              <a:rPr lang="en-US" dirty="0" smtClean="0"/>
              <a:t>,</a:t>
            </a:r>
            <a:br>
              <a:rPr lang="en-US" dirty="0" smtClean="0"/>
            </a:br>
            <a:r>
              <a:rPr lang="en-US" dirty="0" smtClean="0"/>
              <a:t>Acne </a:t>
            </a:r>
            <a:r>
              <a:rPr lang="en-US" dirty="0" err="1" smtClean="0"/>
              <a:t>Sutable</a:t>
            </a:r>
            <a:r>
              <a:rPr lang="en-US" dirty="0" smtClean="0"/>
              <a:t>, </a:t>
            </a:r>
            <a:r>
              <a:rPr lang="en-AU" dirty="0"/>
              <a:t>Climate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7722" y="1817426"/>
            <a:ext cx="1310185" cy="8575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 (SC00--, SC20--)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50168" y="579608"/>
            <a:ext cx="638828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: {</a:t>
            </a:r>
          </a:p>
          <a:p>
            <a:r>
              <a:rPr lang="en-US" sz="1100" dirty="0"/>
              <a:t> </a:t>
            </a:r>
            <a:r>
              <a:rPr lang="en-US" sz="1100" dirty="0" smtClean="0"/>
              <a:t>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0,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"Dry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 smtClean="0"/>
              <a:t>severity_pc</a:t>
            </a:r>
            <a:r>
              <a:rPr lang="en-US" sz="1100" dirty="0"/>
              <a:t>: null, </a:t>
            </a:r>
            <a:endParaRPr lang="en-US" sz="1100" dirty="0" smtClean="0"/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1,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"Dehydrated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/>
              <a:t>severity_pc</a:t>
            </a:r>
            <a:r>
              <a:rPr lang="en-US" sz="1100" dirty="0"/>
              <a:t>: null,</a:t>
            </a:r>
            <a:endParaRPr lang="en-US" sz="1100" dirty="0" smtClean="0"/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2,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"Compromised Skin Barrier“,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/>
              <a:t>severity_pc</a:t>
            </a:r>
            <a:r>
              <a:rPr lang="en-US" sz="1100" dirty="0"/>
              <a:t>: null,</a:t>
            </a:r>
            <a:endParaRPr lang="en-US" sz="1100" dirty="0" smtClean="0"/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3,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"Sensitive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/>
              <a:t>severity_pc</a:t>
            </a:r>
            <a:r>
              <a:rPr lang="en-US" sz="1100" dirty="0"/>
              <a:t>: null,</a:t>
            </a:r>
            <a:endParaRPr lang="en-US" sz="1100" dirty="0" smtClean="0"/>
          </a:p>
          <a:p>
            <a:r>
              <a:rPr lang="en-US" sz="1100" dirty="0" smtClean="0"/>
              <a:t>}</a:t>
            </a:r>
          </a:p>
          <a:p>
            <a:r>
              <a:rPr lang="en-US" sz="1100" dirty="0" smtClean="0"/>
              <a:t>prompt = “given the image in the &lt;</a:t>
            </a:r>
            <a:r>
              <a:rPr lang="en-US" sz="1100" dirty="0" err="1" smtClean="0"/>
              <a:t>image_url</a:t>
            </a:r>
            <a:r>
              <a:rPr lang="en-US" sz="1100" dirty="0" smtClean="0"/>
              <a:t> &gt; get me the &lt;</a:t>
            </a:r>
            <a:r>
              <a:rPr lang="en-US" sz="1100" dirty="0" err="1" smtClean="0"/>
              <a:t>s</a:t>
            </a:r>
            <a:r>
              <a:rPr lang="en-US" sz="1100" dirty="0" err="1" smtClean="0">
                <a:solidFill>
                  <a:schemeClr val="tx1"/>
                </a:solidFill>
              </a:rPr>
              <a:t>kin_concerns.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&gt; populated …”</a:t>
            </a:r>
          </a:p>
          <a:p>
            <a:r>
              <a:rPr lang="en-US" sz="1100" dirty="0" err="1"/>
              <a:t>r</a:t>
            </a:r>
            <a:r>
              <a:rPr lang="en-US" sz="1100" dirty="0" err="1" smtClean="0"/>
              <a:t>et_obj</a:t>
            </a:r>
            <a:r>
              <a:rPr lang="en-US" sz="1100" dirty="0" smtClean="0"/>
              <a:t> = </a:t>
            </a:r>
            <a:r>
              <a:rPr lang="en-US" sz="1100" dirty="0" err="1" smtClean="0"/>
              <a:t>get_info_from_ai</a:t>
            </a:r>
            <a:r>
              <a:rPr lang="en-US" sz="1100" dirty="0" smtClean="0"/>
              <a:t>(</a:t>
            </a:r>
            <a:r>
              <a:rPr lang="en-US" sz="1100" dirty="0" err="1" smtClean="0"/>
              <a:t>model_name</a:t>
            </a:r>
            <a:r>
              <a:rPr lang="en-US" sz="1100" dirty="0" smtClean="0"/>
              <a:t>, </a:t>
            </a:r>
            <a:r>
              <a:rPr lang="en-US" sz="1100" dirty="0" err="1" smtClean="0"/>
              <a:t>model_API_key</a:t>
            </a:r>
            <a:r>
              <a:rPr lang="en-US" sz="1100" dirty="0" smtClean="0"/>
              <a:t>, …, </a:t>
            </a:r>
            <a:r>
              <a:rPr lang="en-US" sz="1100" dirty="0" err="1" smtClean="0"/>
              <a:t>image_url</a:t>
            </a:r>
            <a:r>
              <a:rPr lang="en-US" sz="1100" dirty="0" smtClean="0"/>
              <a:t>, </a:t>
            </a:r>
            <a:r>
              <a:rPr lang="en-US" sz="1100" dirty="0" err="1" smtClean="0"/>
              <a:t>prompt_string</a:t>
            </a:r>
            <a:r>
              <a:rPr lang="en-US" sz="1100" dirty="0" smtClean="0"/>
              <a:t>)</a:t>
            </a:r>
            <a:endParaRPr lang="en-AU" sz="1100" dirty="0"/>
          </a:p>
        </p:txBody>
      </p:sp>
      <p:sp>
        <p:nvSpPr>
          <p:cNvPr id="23" name="Oval 22"/>
          <p:cNvSpPr/>
          <p:nvPr/>
        </p:nvSpPr>
        <p:spPr>
          <a:xfrm>
            <a:off x="6598693" y="4971196"/>
            <a:ext cx="1480782" cy="10986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683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86764" y="203235"/>
            <a:ext cx="8187501" cy="579222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grpSp>
        <p:nvGrpSpPr>
          <p:cNvPr id="14" name="Group 13"/>
          <p:cNvGrpSpPr/>
          <p:nvPr/>
        </p:nvGrpSpPr>
        <p:grpSpPr>
          <a:xfrm>
            <a:off x="997563" y="921820"/>
            <a:ext cx="301225" cy="399213"/>
            <a:chOff x="8634412" y="1219200"/>
            <a:chExt cx="676275" cy="933450"/>
          </a:xfrm>
        </p:grpSpPr>
        <p:sp>
          <p:nvSpPr>
            <p:cNvPr id="5" name="Smiley Face 4"/>
            <p:cNvSpPr/>
            <p:nvPr/>
          </p:nvSpPr>
          <p:spPr>
            <a:xfrm>
              <a:off x="8753475" y="1219200"/>
              <a:ext cx="438150" cy="428625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12" name="Snip Same Side Corner Rectangle 11"/>
            <p:cNvSpPr/>
            <p:nvPr/>
          </p:nvSpPr>
          <p:spPr>
            <a:xfrm>
              <a:off x="8634412" y="1647825"/>
              <a:ext cx="676275" cy="504825"/>
            </a:xfrm>
            <a:prstGeom prst="snip2Same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</p:grpSp>
      <p:sp>
        <p:nvSpPr>
          <p:cNvPr id="15" name="Down Arrow 14"/>
          <p:cNvSpPr/>
          <p:nvPr/>
        </p:nvSpPr>
        <p:spPr>
          <a:xfrm rot="16200000">
            <a:off x="1921607" y="352035"/>
            <a:ext cx="420989" cy="15605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 dirty="0"/>
          </a:p>
        </p:txBody>
      </p:sp>
      <p:sp>
        <p:nvSpPr>
          <p:cNvPr id="16" name="TextBox 15"/>
          <p:cNvSpPr txBox="1"/>
          <p:nvPr/>
        </p:nvSpPr>
        <p:spPr>
          <a:xfrm>
            <a:off x="1793889" y="1026773"/>
            <a:ext cx="489236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LOGIN</a:t>
            </a:r>
            <a:endParaRPr lang="en-AU" sz="914" dirty="0"/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034" y="4497056"/>
            <a:ext cx="1340899" cy="1340899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8427" y="4791312"/>
            <a:ext cx="868805" cy="868805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345969">
            <a:off x="9870005" y="4612532"/>
            <a:ext cx="604688" cy="67593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2950967" y="702860"/>
            <a:ext cx="1812102" cy="8802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grpSp>
        <p:nvGrpSpPr>
          <p:cNvPr id="20" name="Group 19"/>
          <p:cNvGrpSpPr/>
          <p:nvPr/>
        </p:nvGrpSpPr>
        <p:grpSpPr>
          <a:xfrm>
            <a:off x="3045165" y="869364"/>
            <a:ext cx="473206" cy="545647"/>
            <a:chOff x="3337214" y="1450230"/>
            <a:chExt cx="620974" cy="716036"/>
          </a:xfrm>
        </p:grpSpPr>
        <p:sp>
          <p:nvSpPr>
            <p:cNvPr id="17" name="Frame 16"/>
            <p:cNvSpPr/>
            <p:nvPr/>
          </p:nvSpPr>
          <p:spPr>
            <a:xfrm>
              <a:off x="3337214" y="1450230"/>
              <a:ext cx="568104" cy="690121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200">
                <a:solidFill>
                  <a:schemeClr val="tx1"/>
                </a:solidFill>
              </a:endParaRPr>
            </a:p>
          </p:txBody>
        </p:sp>
        <p:sp>
          <p:nvSpPr>
            <p:cNvPr id="19" name="Smiley Face 18"/>
            <p:cNvSpPr/>
            <p:nvPr/>
          </p:nvSpPr>
          <p:spPr>
            <a:xfrm>
              <a:off x="3476950" y="1577604"/>
              <a:ext cx="276225" cy="295273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2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337214" y="1863352"/>
              <a:ext cx="620974" cy="3029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Image</a:t>
              </a:r>
              <a:endParaRPr lang="en-AU" sz="900" dirty="0"/>
            </a:p>
          </p:txBody>
        </p:sp>
      </p:grpSp>
      <p:sp>
        <p:nvSpPr>
          <p:cNvPr id="22" name="Folded Corner 21"/>
          <p:cNvSpPr/>
          <p:nvPr/>
        </p:nvSpPr>
        <p:spPr>
          <a:xfrm>
            <a:off x="3682362" y="869364"/>
            <a:ext cx="914838" cy="525899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Questionnaire</a:t>
            </a:r>
            <a:endParaRPr lang="en-AU" sz="900" dirty="0">
              <a:solidFill>
                <a:schemeClr val="tx1"/>
              </a:solidFill>
            </a:endParaRPr>
          </a:p>
        </p:txBody>
      </p:sp>
      <p:sp>
        <p:nvSpPr>
          <p:cNvPr id="40" name="Left Arrow 39"/>
          <p:cNvSpPr/>
          <p:nvPr/>
        </p:nvSpPr>
        <p:spPr>
          <a:xfrm rot="12961895">
            <a:off x="3970934" y="2835936"/>
            <a:ext cx="6352092" cy="36363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24" name="Rectangle 23"/>
          <p:cNvSpPr/>
          <p:nvPr/>
        </p:nvSpPr>
        <p:spPr>
          <a:xfrm>
            <a:off x="5994160" y="2503562"/>
            <a:ext cx="1559876" cy="3707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14" dirty="0">
                <a:solidFill>
                  <a:schemeClr val="tx1"/>
                </a:solidFill>
              </a:rPr>
              <a:t>Concatenate 2 or 3 answers to questionnaire questions</a:t>
            </a:r>
            <a:endParaRPr lang="en-AU" sz="914" dirty="0">
              <a:solidFill>
                <a:schemeClr val="tx1"/>
              </a:solidFill>
            </a:endParaRPr>
          </a:p>
        </p:txBody>
      </p:sp>
      <p:grpSp>
        <p:nvGrpSpPr>
          <p:cNvPr id="25" name="Group 24"/>
          <p:cNvGrpSpPr/>
          <p:nvPr/>
        </p:nvGrpSpPr>
        <p:grpSpPr>
          <a:xfrm>
            <a:off x="9107228" y="4111837"/>
            <a:ext cx="1596243" cy="397494"/>
            <a:chOff x="4200525" y="2438400"/>
            <a:chExt cx="2094700" cy="2984430"/>
          </a:xfrm>
        </p:grpSpPr>
        <p:sp>
          <p:nvSpPr>
            <p:cNvPr id="27" name="Folded Corner 26"/>
            <p:cNvSpPr/>
            <p:nvPr/>
          </p:nvSpPr>
          <p:spPr>
            <a:xfrm>
              <a:off x="4200525" y="2438400"/>
              <a:ext cx="2047875" cy="2892268"/>
            </a:xfrm>
            <a:prstGeom prst="foldedCorner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 dirty="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285895" y="2617108"/>
              <a:ext cx="2009330" cy="28057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14" dirty="0"/>
                <a:t>All Skin Concerns:</a:t>
              </a:r>
            </a:p>
            <a:p>
              <a:r>
                <a:rPr lang="en-US" sz="914" dirty="0"/>
                <a:t>Serum + Vitamin C + 8 hours</a:t>
              </a:r>
            </a:p>
          </p:txBody>
        </p:sp>
      </p:grpSp>
      <p:pic>
        <p:nvPicPr>
          <p:cNvPr id="32" name="Picture 31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2" b="26164"/>
          <a:stretch/>
        </p:blipFill>
        <p:spPr>
          <a:xfrm>
            <a:off x="6515890" y="507351"/>
            <a:ext cx="1261387" cy="271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1362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2539978" y="159685"/>
            <a:ext cx="8434288" cy="5792222"/>
            <a:chOff x="942975" y="419100"/>
            <a:chExt cx="4981575" cy="7600950"/>
          </a:xfrm>
        </p:grpSpPr>
        <p:sp>
          <p:nvSpPr>
            <p:cNvPr id="2" name="Rectangle 1"/>
            <p:cNvSpPr/>
            <p:nvPr/>
          </p:nvSpPr>
          <p:spPr>
            <a:xfrm>
              <a:off x="942975" y="419100"/>
              <a:ext cx="4981575" cy="760095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 dirty="0"/>
            </a:p>
          </p:txBody>
        </p:sp>
        <p:pic>
          <p:nvPicPr>
            <p:cNvPr id="30" name="Picture 29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8812" b="26164"/>
            <a:stretch/>
          </p:blipFill>
          <p:spPr>
            <a:xfrm>
              <a:off x="3291283" y="875330"/>
              <a:ext cx="745018" cy="356555"/>
            </a:xfrm>
            <a:prstGeom prst="rect">
              <a:avLst/>
            </a:prstGeom>
          </p:spPr>
        </p:pic>
      </p:grpSp>
      <p:grpSp>
        <p:nvGrpSpPr>
          <p:cNvPr id="14" name="Group 13"/>
          <p:cNvGrpSpPr/>
          <p:nvPr/>
        </p:nvGrpSpPr>
        <p:grpSpPr>
          <a:xfrm>
            <a:off x="997563" y="921820"/>
            <a:ext cx="301225" cy="399213"/>
            <a:chOff x="8634412" y="1219200"/>
            <a:chExt cx="676275" cy="933450"/>
          </a:xfrm>
        </p:grpSpPr>
        <p:sp>
          <p:nvSpPr>
            <p:cNvPr id="5" name="Smiley Face 4"/>
            <p:cNvSpPr/>
            <p:nvPr/>
          </p:nvSpPr>
          <p:spPr>
            <a:xfrm>
              <a:off x="8753475" y="1219200"/>
              <a:ext cx="438150" cy="428625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12" name="Snip Same Side Corner Rectangle 11"/>
            <p:cNvSpPr/>
            <p:nvPr/>
          </p:nvSpPr>
          <p:spPr>
            <a:xfrm>
              <a:off x="8634412" y="1647825"/>
              <a:ext cx="676275" cy="504825"/>
            </a:xfrm>
            <a:prstGeom prst="snip2Same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</p:grpSp>
      <p:sp>
        <p:nvSpPr>
          <p:cNvPr id="15" name="Down Arrow 14"/>
          <p:cNvSpPr/>
          <p:nvPr/>
        </p:nvSpPr>
        <p:spPr>
          <a:xfrm rot="16200000">
            <a:off x="1921607" y="352035"/>
            <a:ext cx="420989" cy="15605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 dirty="0"/>
          </a:p>
        </p:txBody>
      </p:sp>
      <p:sp>
        <p:nvSpPr>
          <p:cNvPr id="16" name="TextBox 15"/>
          <p:cNvSpPr txBox="1"/>
          <p:nvPr/>
        </p:nvSpPr>
        <p:spPr>
          <a:xfrm>
            <a:off x="1793889" y="1026773"/>
            <a:ext cx="489236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LOGIN</a:t>
            </a:r>
            <a:endParaRPr lang="en-AU" sz="914" dirty="0"/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034" y="4497056"/>
            <a:ext cx="1340899" cy="1340899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8427" y="4791312"/>
            <a:ext cx="868805" cy="868805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345969">
            <a:off x="9870005" y="4612532"/>
            <a:ext cx="604688" cy="675930"/>
          </a:xfrm>
          <a:prstGeom prst="rect">
            <a:avLst/>
          </a:prstGeom>
        </p:spPr>
      </p:pic>
      <p:grpSp>
        <p:nvGrpSpPr>
          <p:cNvPr id="37" name="Group 36"/>
          <p:cNvGrpSpPr/>
          <p:nvPr/>
        </p:nvGrpSpPr>
        <p:grpSpPr>
          <a:xfrm>
            <a:off x="6742459" y="3889229"/>
            <a:ext cx="1676006" cy="1948726"/>
            <a:chOff x="4200525" y="2413236"/>
            <a:chExt cx="2047875" cy="3059062"/>
          </a:xfrm>
        </p:grpSpPr>
        <p:sp>
          <p:nvSpPr>
            <p:cNvPr id="33" name="Folded Corner 32"/>
            <p:cNvSpPr/>
            <p:nvPr/>
          </p:nvSpPr>
          <p:spPr>
            <a:xfrm>
              <a:off x="4200525" y="2438400"/>
              <a:ext cx="2047875" cy="2892268"/>
            </a:xfrm>
            <a:prstGeom prst="foldedCorner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 dirty="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414067" y="2413236"/>
              <a:ext cx="1810333" cy="30590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14" dirty="0"/>
                <a:t>All Skin Concerns:</a:t>
              </a:r>
            </a:p>
            <a:p>
              <a:pPr marL="130645" indent="-130645">
                <a:buFont typeface="Arial" panose="020B0604020202020204" pitchFamily="34" charset="0"/>
                <a:buChar char="•"/>
              </a:pPr>
              <a:r>
                <a:rPr lang="en-US" sz="914" dirty="0"/>
                <a:t>SC00x + SC10y + …</a:t>
              </a:r>
            </a:p>
            <a:p>
              <a:endParaRPr lang="en-US" sz="914" dirty="0"/>
            </a:p>
            <a:p>
              <a:r>
                <a:rPr lang="en-US" sz="914" dirty="0"/>
                <a:t>Actives:</a:t>
              </a:r>
            </a:p>
            <a:p>
              <a:pPr marL="130645" indent="-130645">
                <a:buFont typeface="Arial" panose="020B0604020202020204" pitchFamily="34" charset="0"/>
                <a:buChar char="•"/>
              </a:pPr>
              <a:r>
                <a:rPr lang="en-US" sz="914" dirty="0"/>
                <a:t>Active a + Active b + …</a:t>
              </a:r>
            </a:p>
            <a:p>
              <a:r>
                <a:rPr lang="en-US" sz="914" dirty="0"/>
                <a:t>Base:</a:t>
              </a:r>
            </a:p>
            <a:p>
              <a:pPr marL="130645" indent="-130645">
                <a:buFont typeface="Arial" panose="020B0604020202020204" pitchFamily="34" charset="0"/>
                <a:buChar char="•"/>
              </a:pPr>
              <a:r>
                <a:rPr lang="en-US" sz="914" dirty="0"/>
                <a:t>Base n</a:t>
              </a:r>
            </a:p>
            <a:p>
              <a:endParaRPr lang="en-US" sz="914" dirty="0"/>
            </a:p>
            <a:p>
              <a:r>
                <a:rPr lang="en-US" sz="914" dirty="0"/>
                <a:t>AI Explanation:</a:t>
              </a:r>
            </a:p>
            <a:p>
              <a:pPr marL="130645" indent="-130645">
                <a:buFont typeface="Arial" panose="020B0604020202020204" pitchFamily="34" charset="0"/>
                <a:buChar char="•"/>
              </a:pPr>
              <a:r>
                <a:rPr lang="en-US" sz="914" dirty="0"/>
                <a:t>Summation of </a:t>
              </a:r>
            </a:p>
            <a:p>
              <a:r>
                <a:rPr lang="en-US" sz="914" dirty="0"/>
                <a:t>     AI Explanation Texts</a:t>
              </a:r>
            </a:p>
            <a:p>
              <a:endParaRPr lang="en-US" sz="914" dirty="0"/>
            </a:p>
            <a:p>
              <a:r>
                <a:rPr lang="en-US" sz="914" strike="sngStrike" dirty="0"/>
                <a:t>Price: $20</a:t>
              </a:r>
              <a:endParaRPr lang="en-AU" sz="914" strike="sngStrike" dirty="0"/>
            </a:p>
          </p:txBody>
        </p:sp>
      </p:grpSp>
      <p:sp>
        <p:nvSpPr>
          <p:cNvPr id="41" name="Rectangle 40"/>
          <p:cNvSpPr/>
          <p:nvPr/>
        </p:nvSpPr>
        <p:spPr>
          <a:xfrm>
            <a:off x="2950967" y="710863"/>
            <a:ext cx="1897189" cy="85965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grpSp>
        <p:nvGrpSpPr>
          <p:cNvPr id="20" name="Group 19"/>
          <p:cNvGrpSpPr/>
          <p:nvPr/>
        </p:nvGrpSpPr>
        <p:grpSpPr>
          <a:xfrm>
            <a:off x="3045165" y="869363"/>
            <a:ext cx="590885" cy="536548"/>
            <a:chOff x="3337214" y="1450230"/>
            <a:chExt cx="637845" cy="690121"/>
          </a:xfrm>
        </p:grpSpPr>
        <p:sp>
          <p:nvSpPr>
            <p:cNvPr id="17" name="Frame 16"/>
            <p:cNvSpPr/>
            <p:nvPr/>
          </p:nvSpPr>
          <p:spPr>
            <a:xfrm>
              <a:off x="3337214" y="1450230"/>
              <a:ext cx="568104" cy="690121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>
                <a:solidFill>
                  <a:schemeClr val="tx1"/>
                </a:solidFill>
              </a:endParaRPr>
            </a:p>
          </p:txBody>
        </p:sp>
        <p:sp>
          <p:nvSpPr>
            <p:cNvPr id="19" name="Smiley Face 18"/>
            <p:cNvSpPr/>
            <p:nvPr/>
          </p:nvSpPr>
          <p:spPr>
            <a:xfrm>
              <a:off x="3476950" y="1577604"/>
              <a:ext cx="276225" cy="295273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351980" y="1818543"/>
              <a:ext cx="623079" cy="305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14" dirty="0"/>
                <a:t>Image</a:t>
              </a:r>
              <a:endParaRPr lang="en-AU" sz="914" dirty="0"/>
            </a:p>
          </p:txBody>
        </p:sp>
      </p:grpSp>
      <p:sp>
        <p:nvSpPr>
          <p:cNvPr id="22" name="Folded Corner 21"/>
          <p:cNvSpPr/>
          <p:nvPr/>
        </p:nvSpPr>
        <p:spPr>
          <a:xfrm>
            <a:off x="3812352" y="869364"/>
            <a:ext cx="861535" cy="525899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14" dirty="0">
                <a:solidFill>
                  <a:schemeClr val="tx1"/>
                </a:solidFill>
              </a:rPr>
              <a:t>Questionnaire</a:t>
            </a:r>
            <a:endParaRPr lang="en-AU" sz="914" dirty="0">
              <a:solidFill>
                <a:schemeClr val="tx1"/>
              </a:solidFill>
            </a:endParaRPr>
          </a:p>
        </p:txBody>
      </p:sp>
      <p:sp>
        <p:nvSpPr>
          <p:cNvPr id="40" name="Left Arrow 39"/>
          <p:cNvSpPr/>
          <p:nvPr/>
        </p:nvSpPr>
        <p:spPr>
          <a:xfrm rot="16200000">
            <a:off x="3094753" y="1435828"/>
            <a:ext cx="339542" cy="28626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 dirty="0"/>
          </a:p>
        </p:txBody>
      </p:sp>
      <p:sp>
        <p:nvSpPr>
          <p:cNvPr id="42" name="Rounded Rectangle 41"/>
          <p:cNvSpPr/>
          <p:nvPr/>
        </p:nvSpPr>
        <p:spPr>
          <a:xfrm>
            <a:off x="2949561" y="1744554"/>
            <a:ext cx="672808" cy="22826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14" dirty="0"/>
              <a:t>Visual AI</a:t>
            </a:r>
            <a:endParaRPr lang="en-AU" sz="914" dirty="0"/>
          </a:p>
        </p:txBody>
      </p:sp>
      <p:sp>
        <p:nvSpPr>
          <p:cNvPr id="58" name="Left Arrow 57"/>
          <p:cNvSpPr/>
          <p:nvPr/>
        </p:nvSpPr>
        <p:spPr>
          <a:xfrm rot="16200000">
            <a:off x="3110972" y="1985715"/>
            <a:ext cx="327942" cy="32205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43" name="Rectangle 42"/>
          <p:cNvSpPr/>
          <p:nvPr/>
        </p:nvSpPr>
        <p:spPr>
          <a:xfrm>
            <a:off x="2706922" y="2293660"/>
            <a:ext cx="1297587" cy="3790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Visual Skin Concerns</a:t>
            </a:r>
          </a:p>
          <a:p>
            <a:r>
              <a:rPr lang="en-US" sz="914" dirty="0">
                <a:solidFill>
                  <a:schemeClr val="tx1"/>
                </a:solidFill>
              </a:rPr>
              <a:t>     + AI Explanations</a:t>
            </a:r>
            <a:endParaRPr lang="en-AU" sz="914" dirty="0">
              <a:solidFill>
                <a:schemeClr val="tx1"/>
              </a:solidFill>
            </a:endParaRPr>
          </a:p>
        </p:txBody>
      </p:sp>
      <p:sp>
        <p:nvSpPr>
          <p:cNvPr id="59" name="Left Arrow 58"/>
          <p:cNvSpPr/>
          <p:nvPr/>
        </p:nvSpPr>
        <p:spPr>
          <a:xfrm rot="16200000">
            <a:off x="3598393" y="2031580"/>
            <a:ext cx="1582600" cy="30996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grpSp>
        <p:nvGrpSpPr>
          <p:cNvPr id="47" name="Group 46"/>
          <p:cNvGrpSpPr/>
          <p:nvPr/>
        </p:nvGrpSpPr>
        <p:grpSpPr>
          <a:xfrm>
            <a:off x="3545175" y="3653703"/>
            <a:ext cx="2555374" cy="407993"/>
            <a:chOff x="2951322" y="3685146"/>
            <a:chExt cx="3096015" cy="535396"/>
          </a:xfrm>
        </p:grpSpPr>
        <p:sp>
          <p:nvSpPr>
            <p:cNvPr id="60" name="Rounded Rectangle 59"/>
            <p:cNvSpPr/>
            <p:nvPr/>
          </p:nvSpPr>
          <p:spPr>
            <a:xfrm>
              <a:off x="2951322" y="3690688"/>
              <a:ext cx="2425306" cy="52985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14" dirty="0"/>
                <a:t>  LLM    </a:t>
              </a:r>
              <a:r>
                <a:rPr lang="en-US" sz="914" dirty="0" smtClean="0"/>
                <a:t>  </a:t>
              </a:r>
              <a:endParaRPr lang="en-AU" sz="914" dirty="0"/>
            </a:p>
          </p:txBody>
        </p:sp>
        <p:sp>
          <p:nvSpPr>
            <p:cNvPr id="68" name="Left Arrow 67"/>
            <p:cNvSpPr/>
            <p:nvPr/>
          </p:nvSpPr>
          <p:spPr>
            <a:xfrm>
              <a:off x="5040693" y="3718773"/>
              <a:ext cx="472314" cy="426053"/>
            </a:xfrm>
            <a:prstGeom prst="leftArrow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5383997" y="3685146"/>
              <a:ext cx="663340" cy="52985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14" dirty="0" err="1"/>
                <a:t>CelRev</a:t>
              </a:r>
              <a:endParaRPr lang="en-US" sz="914" dirty="0"/>
            </a:p>
            <a:p>
              <a:pPr algn="ctr"/>
              <a:r>
                <a:rPr lang="en-US" sz="914" dirty="0"/>
                <a:t>RAG</a:t>
              </a:r>
              <a:endParaRPr lang="en-AU" sz="914" dirty="0"/>
            </a:p>
          </p:txBody>
        </p:sp>
      </p:grpSp>
      <p:sp>
        <p:nvSpPr>
          <p:cNvPr id="46" name="TextBox 45"/>
          <p:cNvSpPr txBox="1"/>
          <p:nvPr/>
        </p:nvSpPr>
        <p:spPr>
          <a:xfrm>
            <a:off x="3141436" y="1342810"/>
            <a:ext cx="259927" cy="303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3152321" y="1969738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6" name="Left Arrow 85"/>
          <p:cNvSpPr/>
          <p:nvPr/>
        </p:nvSpPr>
        <p:spPr>
          <a:xfrm rot="16200000">
            <a:off x="3163522" y="2638422"/>
            <a:ext cx="327942" cy="32205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90" name="Rectangle 89"/>
          <p:cNvSpPr/>
          <p:nvPr/>
        </p:nvSpPr>
        <p:spPr>
          <a:xfrm>
            <a:off x="3571442" y="4377966"/>
            <a:ext cx="2038849" cy="7253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All Skin Concerns + AI Explanations</a:t>
            </a:r>
          </a:p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List of bases + AI Explanations</a:t>
            </a:r>
          </a:p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Actives + AI Explanations</a:t>
            </a:r>
          </a:p>
          <a:p>
            <a:pPr marL="558568" lvl="1" indent="-130645">
              <a:buFont typeface="Courier New" panose="02070309020205020404" pitchFamily="49" charset="0"/>
              <a:buChar char="o"/>
            </a:pPr>
            <a:r>
              <a:rPr lang="en-US" sz="914" dirty="0">
                <a:solidFill>
                  <a:schemeClr val="tx1"/>
                </a:solidFill>
              </a:rPr>
              <a:t>compatible to bases</a:t>
            </a:r>
          </a:p>
          <a:p>
            <a:pPr marL="558568" lvl="1" indent="-130645">
              <a:buFont typeface="Courier New" panose="02070309020205020404" pitchFamily="49" charset="0"/>
              <a:buChar char="o"/>
            </a:pPr>
            <a:r>
              <a:rPr lang="en-US" sz="914" dirty="0">
                <a:solidFill>
                  <a:schemeClr val="tx1"/>
                </a:solidFill>
              </a:rPr>
              <a:t>effective for skin concerns</a:t>
            </a:r>
          </a:p>
        </p:txBody>
      </p:sp>
      <p:sp>
        <p:nvSpPr>
          <p:cNvPr id="91" name="Left Arrow 90"/>
          <p:cNvSpPr/>
          <p:nvPr/>
        </p:nvSpPr>
        <p:spPr>
          <a:xfrm rot="16200000">
            <a:off x="3583254" y="3929463"/>
            <a:ext cx="541217" cy="3188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92" name="TextBox 91"/>
          <p:cNvSpPr txBox="1"/>
          <p:nvPr/>
        </p:nvSpPr>
        <p:spPr>
          <a:xfrm>
            <a:off x="3730689" y="4026634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4" name="Half Frame 53"/>
          <p:cNvSpPr/>
          <p:nvPr/>
        </p:nvSpPr>
        <p:spPr>
          <a:xfrm rot="13475004">
            <a:off x="3431497" y="2441386"/>
            <a:ext cx="871663" cy="880726"/>
          </a:xfrm>
          <a:prstGeom prst="halfFrame">
            <a:avLst>
              <a:gd name="adj1" fmla="val 11711"/>
              <a:gd name="adj2" fmla="val 135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>
              <a:solidFill>
                <a:schemeClr val="tx1"/>
              </a:solidFill>
            </a:endParaRPr>
          </a:p>
        </p:txBody>
      </p:sp>
      <p:sp>
        <p:nvSpPr>
          <p:cNvPr id="97" name="Left Arrow 96"/>
          <p:cNvSpPr/>
          <p:nvPr/>
        </p:nvSpPr>
        <p:spPr>
          <a:xfrm rot="16200000">
            <a:off x="3621881" y="3393495"/>
            <a:ext cx="480140" cy="35426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98" name="TextBox 97"/>
          <p:cNvSpPr txBox="1"/>
          <p:nvPr/>
        </p:nvSpPr>
        <p:spPr>
          <a:xfrm>
            <a:off x="3730689" y="3350072"/>
            <a:ext cx="273820" cy="303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9" name="Left Arrow 98"/>
          <p:cNvSpPr/>
          <p:nvPr/>
        </p:nvSpPr>
        <p:spPr>
          <a:xfrm rot="10800000">
            <a:off x="5610291" y="4523976"/>
            <a:ext cx="1189030" cy="30996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100" name="TextBox 99"/>
          <p:cNvSpPr txBox="1"/>
          <p:nvPr/>
        </p:nvSpPr>
        <p:spPr>
          <a:xfrm>
            <a:off x="5850540" y="4573415"/>
            <a:ext cx="710451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Formatting</a:t>
            </a:r>
            <a:endParaRPr lang="en-AU" sz="914" dirty="0"/>
          </a:p>
        </p:txBody>
      </p:sp>
      <p:sp>
        <p:nvSpPr>
          <p:cNvPr id="101" name="Left Arrow 100"/>
          <p:cNvSpPr/>
          <p:nvPr/>
        </p:nvSpPr>
        <p:spPr>
          <a:xfrm rot="10800000">
            <a:off x="8313665" y="4512963"/>
            <a:ext cx="1724761" cy="32097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102" name="TextBox 101"/>
          <p:cNvSpPr txBox="1"/>
          <p:nvPr/>
        </p:nvSpPr>
        <p:spPr>
          <a:xfrm>
            <a:off x="8403302" y="4566516"/>
            <a:ext cx="1510350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To check out/ shopping cart</a:t>
            </a:r>
            <a:endParaRPr lang="en-AU" sz="914" dirty="0"/>
          </a:p>
        </p:txBody>
      </p:sp>
      <p:sp>
        <p:nvSpPr>
          <p:cNvPr id="103" name="TextBox 102"/>
          <p:cNvSpPr txBox="1"/>
          <p:nvPr/>
        </p:nvSpPr>
        <p:spPr>
          <a:xfrm>
            <a:off x="6037883" y="4349334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9120491" y="4332245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4090240" y="1850305"/>
            <a:ext cx="720286" cy="2056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Answers</a:t>
            </a:r>
            <a:endParaRPr lang="en-AU" sz="914" dirty="0">
              <a:solidFill>
                <a:schemeClr val="tx1"/>
              </a:solidFill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976295" y="1288445"/>
            <a:ext cx="404278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User</a:t>
            </a:r>
            <a:endParaRPr lang="en-AU" sz="914" dirty="0"/>
          </a:p>
        </p:txBody>
      </p:sp>
    </p:spTree>
    <p:extLst>
      <p:ext uri="{BB962C8B-B14F-4D97-AF65-F5344CB8AC3E}">
        <p14:creationId xmlns:p14="http://schemas.microsoft.com/office/powerpoint/2010/main" val="2239038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665</TotalTime>
  <Words>376</Words>
  <Application>Microsoft Office PowerPoint</Application>
  <PresentationFormat>Widescreen</PresentationFormat>
  <Paragraphs>94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15</cp:revision>
  <dcterms:created xsi:type="dcterms:W3CDTF">2026-08-14T03:15:05Z</dcterms:created>
  <dcterms:modified xsi:type="dcterms:W3CDTF">2026-08-25T09:29:47Z</dcterms:modified>
</cp:coreProperties>
</file>