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0708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7885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6534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273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518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8119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066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719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2262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569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927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2CC2A-5CFF-450D-AB10-594363CFED2D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8B864-0786-4A2C-A4FA-435B2DD29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9521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Shopify logo and symbol, meaning, history, PNG"/>
          <p:cNvSpPr>
            <a:spLocks noChangeAspect="1" noChangeArrowheads="1"/>
          </p:cNvSpPr>
          <p:nvPr/>
        </p:nvSpPr>
        <p:spPr bwMode="auto">
          <a:xfrm>
            <a:off x="749265" y="212671"/>
            <a:ext cx="274338" cy="274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302" tIns="41151" rIns="82302" bIns="41151" numCol="1" anchor="t" anchorCtr="0" compatLnSpc="1">
            <a:prstTxWarp prst="textNoShape">
              <a:avLst/>
            </a:prstTxWarp>
          </a:bodyPr>
          <a:lstStyle/>
          <a:p>
            <a:endParaRPr lang="en-AU" sz="126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2" b="26164"/>
          <a:stretch/>
        </p:blipFill>
        <p:spPr>
          <a:xfrm>
            <a:off x="7661521" y="3255546"/>
            <a:ext cx="684847" cy="1927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73758" y="3213395"/>
            <a:ext cx="2157129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Existing                       Frontend</a:t>
            </a:r>
            <a:endParaRPr lang="en-AU" sz="126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13736" y="1878695"/>
            <a:ext cx="208497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60" dirty="0"/>
              <a:t>URL: https://celrevive.com/</a:t>
            </a:r>
            <a:endParaRPr lang="en-AU" sz="1260" dirty="0"/>
          </a:p>
        </p:txBody>
      </p:sp>
      <p:sp>
        <p:nvSpPr>
          <p:cNvPr id="11" name="TextBox 10"/>
          <p:cNvSpPr txBox="1"/>
          <p:nvPr/>
        </p:nvSpPr>
        <p:spPr>
          <a:xfrm>
            <a:off x="5790529" y="1639005"/>
            <a:ext cx="939616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DNS Server</a:t>
            </a:r>
            <a:endParaRPr lang="en-AU" sz="1260" b="1" dirty="0"/>
          </a:p>
        </p:txBody>
      </p:sp>
      <p:cxnSp>
        <p:nvCxnSpPr>
          <p:cNvPr id="13" name="Straight Arrow Connector 12"/>
          <p:cNvCxnSpPr>
            <a:stCxn id="4" idx="0"/>
            <a:endCxn id="9" idx="2"/>
          </p:cNvCxnSpPr>
          <p:nvPr/>
        </p:nvCxnSpPr>
        <p:spPr>
          <a:xfrm flipH="1" flipV="1">
            <a:off x="6356221" y="2164927"/>
            <a:ext cx="1705344" cy="95472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0"/>
            <a:endCxn id="23" idx="2"/>
          </p:cNvCxnSpPr>
          <p:nvPr/>
        </p:nvCxnSpPr>
        <p:spPr>
          <a:xfrm flipV="1">
            <a:off x="6301354" y="994173"/>
            <a:ext cx="0" cy="66540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439" y="286281"/>
            <a:ext cx="1135830" cy="70789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60" b="29958"/>
          <a:stretch/>
        </p:blipFill>
        <p:spPr>
          <a:xfrm>
            <a:off x="6168182" y="473731"/>
            <a:ext cx="443303" cy="2265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78865" y="3477738"/>
            <a:ext cx="2242538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Authentication UI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User Profile UI (Partial)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Shopping Cart (UX Issues)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Create Order (UX Issues)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Purchase - Card etc. (Issues)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956711" y="3119655"/>
            <a:ext cx="2209708" cy="2406148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sp>
        <p:nvSpPr>
          <p:cNvPr id="10" name="Rectangle 9"/>
          <p:cNvSpPr/>
          <p:nvPr/>
        </p:nvSpPr>
        <p:spPr>
          <a:xfrm>
            <a:off x="5305486" y="1659581"/>
            <a:ext cx="1991736" cy="522297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sp>
        <p:nvSpPr>
          <p:cNvPr id="34" name="TextBox 33"/>
          <p:cNvSpPr txBox="1"/>
          <p:nvPr/>
        </p:nvSpPr>
        <p:spPr>
          <a:xfrm>
            <a:off x="9521672" y="3213394"/>
            <a:ext cx="1669240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API/ Backend Services</a:t>
            </a:r>
            <a:endParaRPr lang="en-AU" sz="126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9576656" y="3448263"/>
            <a:ext cx="16093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 err="1"/>
              <a:t>Auth</a:t>
            </a:r>
            <a:r>
              <a:rPr lang="en-US" sz="1260" dirty="0"/>
              <a:t> Service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User Profile API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Shopping Cart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Order Service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Purchase API</a:t>
            </a:r>
          </a:p>
        </p:txBody>
      </p:sp>
      <p:sp>
        <p:nvSpPr>
          <p:cNvPr id="32" name="Flowchart: Magnetic Disk 31"/>
          <p:cNvSpPr/>
          <p:nvPr/>
        </p:nvSpPr>
        <p:spPr>
          <a:xfrm>
            <a:off x="9472897" y="3032701"/>
            <a:ext cx="1753574" cy="2471311"/>
          </a:xfrm>
          <a:prstGeom prst="flowChartMagneticDisk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sp>
        <p:nvSpPr>
          <p:cNvPr id="36" name="Left-Right Arrow 35"/>
          <p:cNvSpPr/>
          <p:nvPr/>
        </p:nvSpPr>
        <p:spPr>
          <a:xfrm>
            <a:off x="9016145" y="4146054"/>
            <a:ext cx="603944" cy="396045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990"/>
          </a:p>
        </p:txBody>
      </p:sp>
      <p:sp>
        <p:nvSpPr>
          <p:cNvPr id="48" name="TextBox 47"/>
          <p:cNvSpPr txBox="1"/>
          <p:nvPr/>
        </p:nvSpPr>
        <p:spPr>
          <a:xfrm>
            <a:off x="4216526" y="3232994"/>
            <a:ext cx="1817613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Frontend Enhancements</a:t>
            </a:r>
            <a:endParaRPr lang="en-AU" sz="1260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4221633" y="3497336"/>
            <a:ext cx="2242538" cy="280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Questionnaire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User Image Analysis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Recommendation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Profile Detail Out (?)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Support &amp; Order Returns (?)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Fix Existing Issues (?)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8882" y="3164582"/>
            <a:ext cx="2209708" cy="2730902"/>
          </a:xfrm>
          <a:prstGeom prst="rect">
            <a:avLst/>
          </a:prstGeom>
          <a:solidFill>
            <a:srgbClr val="FFC000">
              <a:alpha val="16000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sp>
        <p:nvSpPr>
          <p:cNvPr id="51" name="TextBox 50"/>
          <p:cNvSpPr txBox="1"/>
          <p:nvPr/>
        </p:nvSpPr>
        <p:spPr>
          <a:xfrm>
            <a:off x="1372007" y="3232994"/>
            <a:ext cx="2169825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/>
              <a:t>New/ Enhanced API/ Services</a:t>
            </a:r>
            <a:endParaRPr lang="en-AU" sz="126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1034180" y="3535217"/>
            <a:ext cx="2863123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AI Image Analysis Service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Recommendation Service</a:t>
            </a:r>
          </a:p>
          <a:p>
            <a:r>
              <a:rPr lang="en-US" sz="1260" dirty="0"/>
              <a:t>        Image, Questionnaire &amp; Profile based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AI Profile Analysis Service (?)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Profile API (?)</a:t>
            </a:r>
          </a:p>
          <a:p>
            <a:pPr marL="257174" indent="-257174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60" dirty="0"/>
              <a:t>Support &amp; Returns API (?)</a:t>
            </a:r>
          </a:p>
        </p:txBody>
      </p:sp>
      <p:sp>
        <p:nvSpPr>
          <p:cNvPr id="53" name="Flowchart: Magnetic Disk 52"/>
          <p:cNvSpPr/>
          <p:nvPr/>
        </p:nvSpPr>
        <p:spPr>
          <a:xfrm>
            <a:off x="941795" y="2839829"/>
            <a:ext cx="2955508" cy="3055656"/>
          </a:xfrm>
          <a:prstGeom prst="flowChartMagneticDisk">
            <a:avLst/>
          </a:prstGeom>
          <a:solidFill>
            <a:srgbClr val="FFC000">
              <a:alpha val="16000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260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6237690" y="3910706"/>
            <a:ext cx="971204" cy="93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6237690" y="4302581"/>
            <a:ext cx="971204" cy="93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6224839" y="5093674"/>
            <a:ext cx="971204" cy="93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492080" y="4530032"/>
            <a:ext cx="434734" cy="514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43" b="1" dirty="0">
                <a:solidFill>
                  <a:srgbClr val="0070C0"/>
                </a:solidFill>
              </a:rPr>
              <a:t>…</a:t>
            </a:r>
            <a:endParaRPr lang="en-AU" sz="1372" b="1" dirty="0">
              <a:solidFill>
                <a:srgbClr val="0070C0"/>
              </a:solidFill>
            </a:endParaRPr>
          </a:p>
        </p:txBody>
      </p:sp>
      <p:sp>
        <p:nvSpPr>
          <p:cNvPr id="64" name="Left-Right Arrow 63"/>
          <p:cNvSpPr/>
          <p:nvPr/>
        </p:nvSpPr>
        <p:spPr>
          <a:xfrm>
            <a:off x="3751121" y="4542099"/>
            <a:ext cx="603944" cy="396045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302" tIns="41151" rIns="82302" bIns="411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990"/>
          </a:p>
        </p:txBody>
      </p:sp>
    </p:spTree>
    <p:extLst>
      <p:ext uri="{BB962C8B-B14F-4D97-AF65-F5344CB8AC3E}">
        <p14:creationId xmlns:p14="http://schemas.microsoft.com/office/powerpoint/2010/main" val="106792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2734" y="675564"/>
            <a:ext cx="1310185" cy="8052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smtClean="0">
                <a:solidFill>
                  <a:schemeClr val="tx1"/>
                </a:solidFill>
              </a:rPr>
              <a:t>Questionnaire + answers {demographic, lifestyle, issues, etc.}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733" y="1817426"/>
            <a:ext cx="1310185" cy="8575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smtClean="0">
                <a:solidFill>
                  <a:schemeClr val="tx1"/>
                </a:solidFill>
              </a:rPr>
              <a:t>Image {}</a:t>
            </a:r>
            <a:endParaRPr lang="en-AU" sz="1100" dirty="0">
              <a:solidFill>
                <a:schemeClr val="tx1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1862919" y="928047"/>
            <a:ext cx="532262" cy="2934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ight Arrow 6"/>
          <p:cNvSpPr/>
          <p:nvPr/>
        </p:nvSpPr>
        <p:spPr>
          <a:xfrm>
            <a:off x="1862918" y="2099479"/>
            <a:ext cx="532262" cy="2934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>
            <a:off x="2395180" y="675564"/>
            <a:ext cx="880281" cy="7665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AI 1</a:t>
            </a:r>
            <a:endParaRPr lang="en-AU" dirty="0"/>
          </a:p>
        </p:txBody>
      </p:sp>
      <p:sp>
        <p:nvSpPr>
          <p:cNvPr id="9" name="Oval 8"/>
          <p:cNvSpPr/>
          <p:nvPr/>
        </p:nvSpPr>
        <p:spPr>
          <a:xfrm>
            <a:off x="2395179" y="1862918"/>
            <a:ext cx="880281" cy="7665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AI 2</a:t>
            </a:r>
            <a:endParaRPr lang="en-AU" dirty="0"/>
          </a:p>
        </p:txBody>
      </p:sp>
      <p:sp>
        <p:nvSpPr>
          <p:cNvPr id="11" name="Right Arrow 10"/>
          <p:cNvSpPr/>
          <p:nvPr/>
        </p:nvSpPr>
        <p:spPr>
          <a:xfrm>
            <a:off x="3275461" y="928047"/>
            <a:ext cx="532262" cy="2934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ight Arrow 11"/>
          <p:cNvSpPr/>
          <p:nvPr/>
        </p:nvSpPr>
        <p:spPr>
          <a:xfrm>
            <a:off x="3275460" y="2099479"/>
            <a:ext cx="532262" cy="2934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/>
          <p:cNvSpPr/>
          <p:nvPr/>
        </p:nvSpPr>
        <p:spPr>
          <a:xfrm>
            <a:off x="3807722" y="675564"/>
            <a:ext cx="1310185" cy="8052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err="1" smtClean="0">
                <a:solidFill>
                  <a:schemeClr val="tx1"/>
                </a:solidFill>
              </a:rPr>
              <a:t>skin_concerns</a:t>
            </a:r>
            <a:r>
              <a:rPr lang="en-US" sz="1100" dirty="0" smtClean="0">
                <a:solidFill>
                  <a:schemeClr val="tx1"/>
                </a:solidFill>
              </a:rPr>
              <a:t> (SC00--, SC20--)</a:t>
            </a:r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</a:rPr>
              <a:t>s</a:t>
            </a:r>
            <a:r>
              <a:rPr lang="en-US" sz="1100" dirty="0" smtClean="0">
                <a:solidFill>
                  <a:schemeClr val="tx1"/>
                </a:solidFill>
              </a:rPr>
              <a:t>kin type?</a:t>
            </a:r>
          </a:p>
          <a:p>
            <a:endParaRPr lang="en-US" sz="1100" dirty="0" smtClean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11988" y="4943900"/>
            <a:ext cx="2224585" cy="1317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Formula (Base + Active)</a:t>
            </a:r>
          </a:p>
          <a:p>
            <a:pPr algn="ctr"/>
            <a:r>
              <a:rPr lang="en-US" dirty="0" smtClean="0"/>
              <a:t>Recommendation</a:t>
            </a:r>
            <a:endParaRPr lang="en-AU" dirty="0"/>
          </a:p>
        </p:txBody>
      </p:sp>
      <p:sp>
        <p:nvSpPr>
          <p:cNvPr id="16" name="Rectangle 15"/>
          <p:cNvSpPr/>
          <p:nvPr/>
        </p:nvSpPr>
        <p:spPr>
          <a:xfrm>
            <a:off x="2906973" y="4930253"/>
            <a:ext cx="1392071" cy="1139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benefits</a:t>
            </a:r>
            <a:endParaRPr lang="en-AU" dirty="0"/>
          </a:p>
        </p:txBody>
      </p:sp>
      <p:sp>
        <p:nvSpPr>
          <p:cNvPr id="17" name="Rectangle 16"/>
          <p:cNvSpPr/>
          <p:nvPr/>
        </p:nvSpPr>
        <p:spPr>
          <a:xfrm>
            <a:off x="4724400" y="4930253"/>
            <a:ext cx="1392071" cy="1139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active</a:t>
            </a:r>
            <a:endParaRPr lang="en-AU" dirty="0"/>
          </a:p>
        </p:txBody>
      </p:sp>
      <p:sp>
        <p:nvSpPr>
          <p:cNvPr id="18" name="Rectangle 17"/>
          <p:cNvSpPr/>
          <p:nvPr/>
        </p:nvSpPr>
        <p:spPr>
          <a:xfrm>
            <a:off x="1092958" y="4930253"/>
            <a:ext cx="1392071" cy="1139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s</a:t>
            </a:r>
            <a:r>
              <a:rPr lang="en-US" sz="1400" dirty="0" err="1" smtClean="0"/>
              <a:t>kin_concern</a:t>
            </a:r>
            <a:endParaRPr lang="en-AU" sz="1400" dirty="0"/>
          </a:p>
        </p:txBody>
      </p:sp>
      <p:sp>
        <p:nvSpPr>
          <p:cNvPr id="19" name="Rectangle 18"/>
          <p:cNvSpPr/>
          <p:nvPr/>
        </p:nvSpPr>
        <p:spPr>
          <a:xfrm>
            <a:off x="6064155" y="3568622"/>
            <a:ext cx="1392071" cy="1139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base</a:t>
            </a:r>
            <a:endParaRPr lang="en-AU" dirty="0"/>
          </a:p>
        </p:txBody>
      </p:sp>
      <p:sp>
        <p:nvSpPr>
          <p:cNvPr id="20" name="Rectangle 19"/>
          <p:cNvSpPr/>
          <p:nvPr/>
        </p:nvSpPr>
        <p:spPr>
          <a:xfrm>
            <a:off x="2538480" y="3568622"/>
            <a:ext cx="3153769" cy="1139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Age, </a:t>
            </a:r>
            <a:r>
              <a:rPr lang="en-US" dirty="0" err="1" smtClean="0"/>
              <a:t>Skin_type</a:t>
            </a:r>
            <a:r>
              <a:rPr lang="en-US" dirty="0" smtClean="0"/>
              <a:t>,</a:t>
            </a:r>
            <a:br>
              <a:rPr lang="en-US" dirty="0" smtClean="0"/>
            </a:br>
            <a:r>
              <a:rPr lang="en-US" dirty="0" smtClean="0"/>
              <a:t>Acne </a:t>
            </a:r>
            <a:r>
              <a:rPr lang="en-US" dirty="0" err="1" smtClean="0"/>
              <a:t>Sutable</a:t>
            </a:r>
            <a:r>
              <a:rPr lang="en-US" dirty="0" smtClean="0"/>
              <a:t>, </a:t>
            </a:r>
            <a:r>
              <a:rPr lang="en-AU" dirty="0"/>
              <a:t>Climate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7722" y="1817426"/>
            <a:ext cx="1310185" cy="8575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err="1" smtClean="0">
                <a:solidFill>
                  <a:schemeClr val="tx1"/>
                </a:solidFill>
              </a:rPr>
              <a:t>skin_concerns</a:t>
            </a:r>
            <a:r>
              <a:rPr lang="en-US" sz="1100" dirty="0" smtClean="0">
                <a:solidFill>
                  <a:schemeClr val="tx1"/>
                </a:solidFill>
              </a:rPr>
              <a:t> (SC00--, SC20--)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50168" y="579608"/>
            <a:ext cx="638828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tx1"/>
                </a:solidFill>
              </a:rPr>
              <a:t>skin_concerns</a:t>
            </a:r>
            <a:r>
              <a:rPr lang="en-US" sz="1100" dirty="0" smtClean="0">
                <a:solidFill>
                  <a:schemeClr val="tx1"/>
                </a:solidFill>
              </a:rPr>
              <a:t>: {</a:t>
            </a:r>
          </a:p>
          <a:p>
            <a:r>
              <a:rPr lang="en-US" sz="1100" dirty="0"/>
              <a:t> </a:t>
            </a:r>
            <a:r>
              <a:rPr lang="en-US" sz="1100" dirty="0" smtClean="0"/>
              <a:t>  </a:t>
            </a:r>
            <a:r>
              <a:rPr lang="en-US" sz="1100" dirty="0" err="1" smtClean="0"/>
              <a:t>skin_concern_id</a:t>
            </a:r>
            <a:r>
              <a:rPr lang="en-US" sz="1100" dirty="0" smtClean="0"/>
              <a:t>: 0, </a:t>
            </a:r>
            <a:r>
              <a:rPr lang="en-US" sz="1100" dirty="0" err="1" smtClean="0"/>
              <a:t>skin_concern_name</a:t>
            </a:r>
            <a:r>
              <a:rPr lang="en-US" sz="1100" dirty="0" smtClean="0"/>
              <a:t>: "Dry Skin“, </a:t>
            </a:r>
            <a:r>
              <a:rPr lang="en-US" sz="1100" dirty="0" err="1" smtClean="0"/>
              <a:t>certainity_pc</a:t>
            </a:r>
            <a:r>
              <a:rPr lang="en-US" sz="1100" dirty="0" smtClean="0"/>
              <a:t>: null</a:t>
            </a:r>
            <a:r>
              <a:rPr lang="en-US" sz="1100" dirty="0"/>
              <a:t>, </a:t>
            </a:r>
            <a:r>
              <a:rPr lang="en-US" sz="1100" dirty="0" err="1" smtClean="0"/>
              <a:t>severity_pc</a:t>
            </a:r>
            <a:r>
              <a:rPr lang="en-US" sz="1100" dirty="0"/>
              <a:t>: null, </a:t>
            </a:r>
            <a:endParaRPr lang="en-US" sz="1100" dirty="0" smtClean="0"/>
          </a:p>
          <a:p>
            <a:r>
              <a:rPr lang="en-US" sz="1100" dirty="0" smtClean="0"/>
              <a:t>   </a:t>
            </a:r>
            <a:r>
              <a:rPr lang="en-US" sz="1100" dirty="0" err="1" smtClean="0"/>
              <a:t>skin_concern_id</a:t>
            </a:r>
            <a:r>
              <a:rPr lang="en-US" sz="1100" dirty="0" smtClean="0"/>
              <a:t>: 1, </a:t>
            </a:r>
            <a:r>
              <a:rPr lang="en-US" sz="1100" dirty="0" err="1" smtClean="0"/>
              <a:t>skin_concern_name</a:t>
            </a:r>
            <a:r>
              <a:rPr lang="en-US" sz="1100" dirty="0" smtClean="0"/>
              <a:t>: "Dehydrated Skin“, </a:t>
            </a:r>
            <a:r>
              <a:rPr lang="en-US" sz="1100" dirty="0" err="1" smtClean="0"/>
              <a:t>certainity_pc</a:t>
            </a:r>
            <a:r>
              <a:rPr lang="en-US" sz="1100" dirty="0" smtClean="0"/>
              <a:t>: null</a:t>
            </a:r>
            <a:r>
              <a:rPr lang="en-US" sz="1100" dirty="0"/>
              <a:t>, </a:t>
            </a:r>
            <a:r>
              <a:rPr lang="en-US" sz="1100" dirty="0" err="1"/>
              <a:t>severity_pc</a:t>
            </a:r>
            <a:r>
              <a:rPr lang="en-US" sz="1100" dirty="0"/>
              <a:t>: null,</a:t>
            </a:r>
            <a:endParaRPr lang="en-US" sz="1100" dirty="0" smtClean="0"/>
          </a:p>
          <a:p>
            <a:r>
              <a:rPr lang="en-US" sz="1100" dirty="0" smtClean="0"/>
              <a:t>   </a:t>
            </a:r>
            <a:r>
              <a:rPr lang="en-US" sz="1100" dirty="0" err="1" smtClean="0"/>
              <a:t>skin_concern_id</a:t>
            </a:r>
            <a:r>
              <a:rPr lang="en-US" sz="1100" dirty="0" smtClean="0"/>
              <a:t>: 2, </a:t>
            </a:r>
            <a:r>
              <a:rPr lang="en-US" sz="1100" dirty="0" err="1" smtClean="0"/>
              <a:t>skin_concern_name</a:t>
            </a:r>
            <a:r>
              <a:rPr lang="en-US" sz="1100" dirty="0" smtClean="0"/>
              <a:t>: "Compromised Skin Barrier“, </a:t>
            </a:r>
            <a:r>
              <a:rPr lang="en-US" sz="1100" dirty="0" err="1" smtClean="0"/>
              <a:t>certainity_pc</a:t>
            </a:r>
            <a:r>
              <a:rPr lang="en-US" sz="1100" dirty="0" smtClean="0"/>
              <a:t>: null</a:t>
            </a:r>
            <a:r>
              <a:rPr lang="en-US" sz="1100" dirty="0"/>
              <a:t>, </a:t>
            </a:r>
            <a:r>
              <a:rPr lang="en-US" sz="1100" dirty="0" err="1"/>
              <a:t>severity_pc</a:t>
            </a:r>
            <a:r>
              <a:rPr lang="en-US" sz="1100" dirty="0"/>
              <a:t>: null,</a:t>
            </a:r>
            <a:endParaRPr lang="en-US" sz="1100" dirty="0" smtClean="0"/>
          </a:p>
          <a:p>
            <a:r>
              <a:rPr lang="en-US" sz="1100" dirty="0" smtClean="0"/>
              <a:t>   </a:t>
            </a:r>
            <a:r>
              <a:rPr lang="en-US" sz="1100" dirty="0" err="1" smtClean="0"/>
              <a:t>skin_concern_id</a:t>
            </a:r>
            <a:r>
              <a:rPr lang="en-US" sz="1100" dirty="0" smtClean="0"/>
              <a:t>: 3, </a:t>
            </a:r>
            <a:r>
              <a:rPr lang="en-US" sz="1100" dirty="0" err="1" smtClean="0"/>
              <a:t>skin_concern_name</a:t>
            </a:r>
            <a:r>
              <a:rPr lang="en-US" sz="1100" dirty="0" smtClean="0"/>
              <a:t>: "Sensitive Skin“, </a:t>
            </a:r>
            <a:r>
              <a:rPr lang="en-US" sz="1100" dirty="0" err="1" smtClean="0"/>
              <a:t>certainity_pc</a:t>
            </a:r>
            <a:r>
              <a:rPr lang="en-US" sz="1100" dirty="0" smtClean="0"/>
              <a:t>: null</a:t>
            </a:r>
            <a:r>
              <a:rPr lang="en-US" sz="1100" dirty="0"/>
              <a:t>, </a:t>
            </a:r>
            <a:r>
              <a:rPr lang="en-US" sz="1100" dirty="0" err="1"/>
              <a:t>severity_pc</a:t>
            </a:r>
            <a:r>
              <a:rPr lang="en-US" sz="1100" dirty="0"/>
              <a:t>: null,</a:t>
            </a:r>
            <a:endParaRPr lang="en-US" sz="1100" dirty="0" smtClean="0"/>
          </a:p>
          <a:p>
            <a:r>
              <a:rPr lang="en-US" sz="1100" dirty="0" smtClean="0"/>
              <a:t>}</a:t>
            </a:r>
          </a:p>
          <a:p>
            <a:r>
              <a:rPr lang="en-US" sz="1100" dirty="0" smtClean="0"/>
              <a:t>prompt = “given the image in the &lt;</a:t>
            </a:r>
            <a:r>
              <a:rPr lang="en-US" sz="1100" dirty="0" err="1" smtClean="0"/>
              <a:t>image_url</a:t>
            </a:r>
            <a:r>
              <a:rPr lang="en-US" sz="1100" dirty="0" smtClean="0"/>
              <a:t> &gt; get me the &lt;</a:t>
            </a:r>
            <a:r>
              <a:rPr lang="en-US" sz="1100" dirty="0" err="1" smtClean="0"/>
              <a:t>s</a:t>
            </a:r>
            <a:r>
              <a:rPr lang="en-US" sz="1100" dirty="0" err="1" smtClean="0">
                <a:solidFill>
                  <a:schemeClr val="tx1"/>
                </a:solidFill>
              </a:rPr>
              <a:t>kin_concerns.</a:t>
            </a:r>
            <a:r>
              <a:rPr lang="en-US" sz="1100" dirty="0" err="1" smtClean="0"/>
              <a:t>certainity_pc</a:t>
            </a:r>
            <a:r>
              <a:rPr lang="en-US" sz="1100" dirty="0" smtClean="0"/>
              <a:t>&gt; populated …”</a:t>
            </a:r>
          </a:p>
          <a:p>
            <a:r>
              <a:rPr lang="en-US" sz="1100" dirty="0" err="1"/>
              <a:t>r</a:t>
            </a:r>
            <a:r>
              <a:rPr lang="en-US" sz="1100" dirty="0" err="1" smtClean="0"/>
              <a:t>et_obj</a:t>
            </a:r>
            <a:r>
              <a:rPr lang="en-US" sz="1100" dirty="0" smtClean="0"/>
              <a:t> = </a:t>
            </a:r>
            <a:r>
              <a:rPr lang="en-US" sz="1100" dirty="0" err="1" smtClean="0"/>
              <a:t>get_info_from_ai</a:t>
            </a:r>
            <a:r>
              <a:rPr lang="en-US" sz="1100" dirty="0" smtClean="0"/>
              <a:t>(</a:t>
            </a:r>
            <a:r>
              <a:rPr lang="en-US" sz="1100" dirty="0" err="1" smtClean="0"/>
              <a:t>model_name</a:t>
            </a:r>
            <a:r>
              <a:rPr lang="en-US" sz="1100" dirty="0" smtClean="0"/>
              <a:t>, </a:t>
            </a:r>
            <a:r>
              <a:rPr lang="en-US" sz="1100" dirty="0" err="1" smtClean="0"/>
              <a:t>model_API_key</a:t>
            </a:r>
            <a:r>
              <a:rPr lang="en-US" sz="1100" dirty="0" smtClean="0"/>
              <a:t>, …, </a:t>
            </a:r>
            <a:r>
              <a:rPr lang="en-US" sz="1100" dirty="0" err="1" smtClean="0"/>
              <a:t>image_url</a:t>
            </a:r>
            <a:r>
              <a:rPr lang="en-US" sz="1100" dirty="0" smtClean="0"/>
              <a:t>, </a:t>
            </a:r>
            <a:r>
              <a:rPr lang="en-US" sz="1100" dirty="0" err="1" smtClean="0"/>
              <a:t>prompt_string</a:t>
            </a:r>
            <a:r>
              <a:rPr lang="en-US" sz="1100" dirty="0" smtClean="0"/>
              <a:t>)</a:t>
            </a:r>
            <a:endParaRPr lang="en-AU" sz="1100" dirty="0"/>
          </a:p>
        </p:txBody>
      </p:sp>
      <p:sp>
        <p:nvSpPr>
          <p:cNvPr id="23" name="Oval 22"/>
          <p:cNvSpPr/>
          <p:nvPr/>
        </p:nvSpPr>
        <p:spPr>
          <a:xfrm>
            <a:off x="6598693" y="4971196"/>
            <a:ext cx="1480782" cy="10986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683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86764" y="203235"/>
            <a:ext cx="8187501" cy="57922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14" name="Group 13"/>
          <p:cNvGrpSpPr/>
          <p:nvPr/>
        </p:nvGrpSpPr>
        <p:grpSpPr>
          <a:xfrm>
            <a:off x="997563" y="921820"/>
            <a:ext cx="301225" cy="399213"/>
            <a:chOff x="8634412" y="1219200"/>
            <a:chExt cx="676275" cy="933450"/>
          </a:xfrm>
        </p:grpSpPr>
        <p:sp>
          <p:nvSpPr>
            <p:cNvPr id="5" name="Smiley Face 4"/>
            <p:cNvSpPr/>
            <p:nvPr/>
          </p:nvSpPr>
          <p:spPr>
            <a:xfrm>
              <a:off x="8753475" y="1219200"/>
              <a:ext cx="438150" cy="428625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12" name="Snip Same Side Corner Rectangle 11"/>
            <p:cNvSpPr/>
            <p:nvPr/>
          </p:nvSpPr>
          <p:spPr>
            <a:xfrm>
              <a:off x="8634412" y="1647825"/>
              <a:ext cx="676275" cy="504825"/>
            </a:xfrm>
            <a:prstGeom prst="snip2Same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</p:grpSp>
      <p:sp>
        <p:nvSpPr>
          <p:cNvPr id="15" name="Down Arrow 14"/>
          <p:cNvSpPr/>
          <p:nvPr/>
        </p:nvSpPr>
        <p:spPr>
          <a:xfrm rot="16200000">
            <a:off x="1921607" y="352035"/>
            <a:ext cx="420989" cy="15605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16" name="TextBox 15"/>
          <p:cNvSpPr txBox="1"/>
          <p:nvPr/>
        </p:nvSpPr>
        <p:spPr>
          <a:xfrm>
            <a:off x="1793889" y="1026773"/>
            <a:ext cx="489236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LOGIN</a:t>
            </a:r>
            <a:endParaRPr lang="en-AU" sz="914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034" y="4497056"/>
            <a:ext cx="1340899" cy="134089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427" y="4791312"/>
            <a:ext cx="868805" cy="86880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45969">
            <a:off x="9870005" y="4612532"/>
            <a:ext cx="604688" cy="675930"/>
          </a:xfrm>
          <a:prstGeom prst="rect">
            <a:avLst/>
          </a:prstGeom>
        </p:spPr>
      </p:pic>
      <p:sp>
        <p:nvSpPr>
          <p:cNvPr id="40" name="Left Arrow 39"/>
          <p:cNvSpPr/>
          <p:nvPr/>
        </p:nvSpPr>
        <p:spPr>
          <a:xfrm rot="12961895">
            <a:off x="3970934" y="2835936"/>
            <a:ext cx="6352092" cy="36363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24" name="Rectangle 23"/>
          <p:cNvSpPr/>
          <p:nvPr/>
        </p:nvSpPr>
        <p:spPr>
          <a:xfrm>
            <a:off x="5994160" y="2503562"/>
            <a:ext cx="1559876" cy="3707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14" dirty="0">
                <a:solidFill>
                  <a:schemeClr val="tx1"/>
                </a:solidFill>
              </a:rPr>
              <a:t>Concatenate 2 or 3 answers to questionnaire questions</a:t>
            </a:r>
            <a:endParaRPr lang="en-AU" sz="914" dirty="0">
              <a:solidFill>
                <a:schemeClr val="tx1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9107228" y="4111837"/>
            <a:ext cx="1596243" cy="397494"/>
            <a:chOff x="4200525" y="2438400"/>
            <a:chExt cx="2094700" cy="2984430"/>
          </a:xfrm>
        </p:grpSpPr>
        <p:sp>
          <p:nvSpPr>
            <p:cNvPr id="27" name="Folded Corner 26"/>
            <p:cNvSpPr/>
            <p:nvPr/>
          </p:nvSpPr>
          <p:spPr>
            <a:xfrm>
              <a:off x="4200525" y="2438400"/>
              <a:ext cx="2047875" cy="2892268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285895" y="2617108"/>
              <a:ext cx="2009330" cy="28057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14" dirty="0"/>
                <a:t>All Skin Concerns:</a:t>
              </a:r>
            </a:p>
            <a:p>
              <a:r>
                <a:rPr lang="en-US" sz="914" dirty="0"/>
                <a:t>Serum + Vitamin C + 8 hours</a:t>
              </a:r>
            </a:p>
          </p:txBody>
        </p:sp>
      </p:grpSp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2" b="26164"/>
          <a:stretch/>
        </p:blipFill>
        <p:spPr>
          <a:xfrm>
            <a:off x="6515890" y="507351"/>
            <a:ext cx="1261387" cy="271709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2950967" y="702860"/>
            <a:ext cx="1812102" cy="880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20" name="Group 19"/>
          <p:cNvGrpSpPr/>
          <p:nvPr/>
        </p:nvGrpSpPr>
        <p:grpSpPr>
          <a:xfrm>
            <a:off x="3045165" y="869364"/>
            <a:ext cx="473206" cy="545647"/>
            <a:chOff x="3337214" y="1450230"/>
            <a:chExt cx="620974" cy="716036"/>
          </a:xfrm>
        </p:grpSpPr>
        <p:sp>
          <p:nvSpPr>
            <p:cNvPr id="17" name="Frame 16"/>
            <p:cNvSpPr/>
            <p:nvPr/>
          </p:nvSpPr>
          <p:spPr>
            <a:xfrm>
              <a:off x="3337214" y="1450230"/>
              <a:ext cx="568104" cy="690121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00">
                <a:solidFill>
                  <a:schemeClr val="tx1"/>
                </a:solidFill>
              </a:endParaRPr>
            </a:p>
          </p:txBody>
        </p:sp>
        <p:sp>
          <p:nvSpPr>
            <p:cNvPr id="19" name="Smiley Face 18"/>
            <p:cNvSpPr/>
            <p:nvPr/>
          </p:nvSpPr>
          <p:spPr>
            <a:xfrm>
              <a:off x="3476950" y="1577604"/>
              <a:ext cx="276225" cy="295273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37214" y="1863352"/>
              <a:ext cx="620974" cy="3029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Image</a:t>
              </a:r>
              <a:endParaRPr lang="en-AU" sz="900" dirty="0"/>
            </a:p>
          </p:txBody>
        </p:sp>
      </p:grpSp>
      <p:sp>
        <p:nvSpPr>
          <p:cNvPr id="22" name="Folded Corner 21"/>
          <p:cNvSpPr/>
          <p:nvPr/>
        </p:nvSpPr>
        <p:spPr>
          <a:xfrm>
            <a:off x="3682362" y="869364"/>
            <a:ext cx="914838" cy="525899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Questionnaire</a:t>
            </a:r>
            <a:endParaRPr lang="en-AU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136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539978" y="159685"/>
            <a:ext cx="8434288" cy="5792222"/>
            <a:chOff x="942975" y="419100"/>
            <a:chExt cx="4981575" cy="7600951"/>
          </a:xfrm>
        </p:grpSpPr>
        <p:sp>
          <p:nvSpPr>
            <p:cNvPr id="2" name="Rectangle 1"/>
            <p:cNvSpPr/>
            <p:nvPr/>
          </p:nvSpPr>
          <p:spPr>
            <a:xfrm>
              <a:off x="942975" y="419100"/>
              <a:ext cx="4981575" cy="76009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pic>
          <p:nvPicPr>
            <p:cNvPr id="30" name="Picture 2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12" b="26164"/>
            <a:stretch/>
          </p:blipFill>
          <p:spPr>
            <a:xfrm>
              <a:off x="3291283" y="875330"/>
              <a:ext cx="745018" cy="356555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997563" y="921820"/>
            <a:ext cx="301225" cy="399213"/>
            <a:chOff x="8634412" y="1219200"/>
            <a:chExt cx="676275" cy="933450"/>
          </a:xfrm>
        </p:grpSpPr>
        <p:sp>
          <p:nvSpPr>
            <p:cNvPr id="5" name="Smiley Face 4"/>
            <p:cNvSpPr/>
            <p:nvPr/>
          </p:nvSpPr>
          <p:spPr>
            <a:xfrm>
              <a:off x="8753475" y="1219200"/>
              <a:ext cx="438150" cy="428625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12" name="Snip Same Side Corner Rectangle 11"/>
            <p:cNvSpPr/>
            <p:nvPr/>
          </p:nvSpPr>
          <p:spPr>
            <a:xfrm>
              <a:off x="8634412" y="1647825"/>
              <a:ext cx="676275" cy="504825"/>
            </a:xfrm>
            <a:prstGeom prst="snip2Same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</p:grpSp>
      <p:sp>
        <p:nvSpPr>
          <p:cNvPr id="15" name="Down Arrow 14"/>
          <p:cNvSpPr/>
          <p:nvPr/>
        </p:nvSpPr>
        <p:spPr>
          <a:xfrm rot="16200000">
            <a:off x="1921607" y="352035"/>
            <a:ext cx="420989" cy="15605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16" name="TextBox 15"/>
          <p:cNvSpPr txBox="1"/>
          <p:nvPr/>
        </p:nvSpPr>
        <p:spPr>
          <a:xfrm>
            <a:off x="1793889" y="1026773"/>
            <a:ext cx="489236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LOGIN</a:t>
            </a:r>
            <a:endParaRPr lang="en-AU" sz="914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034" y="4497056"/>
            <a:ext cx="1340899" cy="134089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427" y="4791312"/>
            <a:ext cx="868805" cy="86880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45969">
            <a:off x="9870005" y="4612532"/>
            <a:ext cx="604688" cy="675930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6939887" y="4459868"/>
            <a:ext cx="1406908" cy="460105"/>
            <a:chOff x="4200525" y="2413236"/>
            <a:chExt cx="2047875" cy="2917432"/>
          </a:xfrm>
        </p:grpSpPr>
        <p:sp>
          <p:nvSpPr>
            <p:cNvPr id="33" name="Folded Corner 32"/>
            <p:cNvSpPr/>
            <p:nvPr/>
          </p:nvSpPr>
          <p:spPr>
            <a:xfrm>
              <a:off x="4200525" y="2438400"/>
              <a:ext cx="2047875" cy="2892268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414067" y="2413236"/>
              <a:ext cx="1462346" cy="5866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14" dirty="0" smtClean="0"/>
                <a:t>Visual </a:t>
              </a:r>
              <a:r>
                <a:rPr lang="en-US" sz="914" dirty="0"/>
                <a:t>Skin Concerns: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SC00x + SC10y + </a:t>
              </a:r>
              <a:r>
                <a:rPr lang="en-US" sz="914" dirty="0" smtClean="0"/>
                <a:t>…</a:t>
              </a:r>
              <a:endParaRPr lang="en-US" sz="914" dirty="0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2950967" y="710863"/>
            <a:ext cx="1897189" cy="859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20" name="Group 19"/>
          <p:cNvGrpSpPr/>
          <p:nvPr/>
        </p:nvGrpSpPr>
        <p:grpSpPr>
          <a:xfrm>
            <a:off x="3045165" y="869363"/>
            <a:ext cx="590885" cy="536548"/>
            <a:chOff x="3337214" y="1450230"/>
            <a:chExt cx="637845" cy="690121"/>
          </a:xfrm>
        </p:grpSpPr>
        <p:sp>
          <p:nvSpPr>
            <p:cNvPr id="17" name="Frame 16"/>
            <p:cNvSpPr/>
            <p:nvPr/>
          </p:nvSpPr>
          <p:spPr>
            <a:xfrm>
              <a:off x="3337214" y="1450230"/>
              <a:ext cx="568104" cy="690121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>
                <a:solidFill>
                  <a:schemeClr val="tx1"/>
                </a:solidFill>
              </a:endParaRPr>
            </a:p>
          </p:txBody>
        </p:sp>
        <p:sp>
          <p:nvSpPr>
            <p:cNvPr id="19" name="Smiley Face 18"/>
            <p:cNvSpPr/>
            <p:nvPr/>
          </p:nvSpPr>
          <p:spPr>
            <a:xfrm>
              <a:off x="3476950" y="1577604"/>
              <a:ext cx="276225" cy="295273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51980" y="1818543"/>
              <a:ext cx="623079" cy="305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14" dirty="0"/>
                <a:t>Image</a:t>
              </a:r>
              <a:endParaRPr lang="en-AU" sz="914" dirty="0"/>
            </a:p>
          </p:txBody>
        </p:sp>
      </p:grpSp>
      <p:sp>
        <p:nvSpPr>
          <p:cNvPr id="22" name="Folded Corner 21"/>
          <p:cNvSpPr/>
          <p:nvPr/>
        </p:nvSpPr>
        <p:spPr>
          <a:xfrm>
            <a:off x="3812352" y="869364"/>
            <a:ext cx="861535" cy="525899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dirty="0" smtClean="0">
                <a:solidFill>
                  <a:schemeClr val="tx1"/>
                </a:solidFill>
              </a:rPr>
              <a:t>Questionnaire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40" name="Left Arrow 39"/>
          <p:cNvSpPr/>
          <p:nvPr/>
        </p:nvSpPr>
        <p:spPr>
          <a:xfrm rot="16200000">
            <a:off x="3094753" y="1435828"/>
            <a:ext cx="339542" cy="2862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42" name="Rounded Rectangle 41"/>
          <p:cNvSpPr/>
          <p:nvPr/>
        </p:nvSpPr>
        <p:spPr>
          <a:xfrm>
            <a:off x="2949561" y="1744554"/>
            <a:ext cx="672808" cy="2282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dirty="0"/>
              <a:t>Visual AI</a:t>
            </a:r>
            <a:endParaRPr lang="en-AU" sz="914" dirty="0"/>
          </a:p>
        </p:txBody>
      </p:sp>
      <p:sp>
        <p:nvSpPr>
          <p:cNvPr id="58" name="Left Arrow 57"/>
          <p:cNvSpPr/>
          <p:nvPr/>
        </p:nvSpPr>
        <p:spPr>
          <a:xfrm rot="16200000">
            <a:off x="3110972" y="1985715"/>
            <a:ext cx="327942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59" name="Left Arrow 58"/>
          <p:cNvSpPr/>
          <p:nvPr/>
        </p:nvSpPr>
        <p:spPr>
          <a:xfrm rot="16200000">
            <a:off x="3927466" y="1693507"/>
            <a:ext cx="915454" cy="3189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46" name="TextBox 45"/>
          <p:cNvSpPr txBox="1"/>
          <p:nvPr/>
        </p:nvSpPr>
        <p:spPr>
          <a:xfrm>
            <a:off x="3141436" y="1342810"/>
            <a:ext cx="259927" cy="303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" name="Left Arrow 98"/>
          <p:cNvSpPr/>
          <p:nvPr/>
        </p:nvSpPr>
        <p:spPr>
          <a:xfrm rot="12712082">
            <a:off x="3229161" y="3475591"/>
            <a:ext cx="4012336" cy="3283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100" name="TextBox 99"/>
          <p:cNvSpPr txBox="1"/>
          <p:nvPr/>
        </p:nvSpPr>
        <p:spPr>
          <a:xfrm rot="1972269">
            <a:off x="5241689" y="3749793"/>
            <a:ext cx="71045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Formatting</a:t>
            </a:r>
            <a:endParaRPr lang="en-AU" sz="914" dirty="0"/>
          </a:p>
        </p:txBody>
      </p:sp>
      <p:sp>
        <p:nvSpPr>
          <p:cNvPr id="101" name="Left Arrow 100"/>
          <p:cNvSpPr/>
          <p:nvPr/>
        </p:nvSpPr>
        <p:spPr>
          <a:xfrm rot="10800000">
            <a:off x="8313665" y="4512963"/>
            <a:ext cx="1724761" cy="32097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102" name="TextBox 101"/>
          <p:cNvSpPr txBox="1"/>
          <p:nvPr/>
        </p:nvSpPr>
        <p:spPr>
          <a:xfrm>
            <a:off x="8403302" y="4566516"/>
            <a:ext cx="1510350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To check out/ shopping cart</a:t>
            </a:r>
            <a:endParaRPr lang="en-AU" sz="914" dirty="0"/>
          </a:p>
        </p:txBody>
      </p:sp>
      <p:sp>
        <p:nvSpPr>
          <p:cNvPr id="103" name="TextBox 102"/>
          <p:cNvSpPr txBox="1"/>
          <p:nvPr/>
        </p:nvSpPr>
        <p:spPr>
          <a:xfrm>
            <a:off x="5152043" y="3521334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9120491" y="4332245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090240" y="1850305"/>
            <a:ext cx="720286" cy="205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Answers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976295" y="1288445"/>
            <a:ext cx="404278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User</a:t>
            </a:r>
            <a:endParaRPr lang="en-AU" sz="914" dirty="0"/>
          </a:p>
        </p:txBody>
      </p:sp>
      <p:sp>
        <p:nvSpPr>
          <p:cNvPr id="43" name="Rectangle 42"/>
          <p:cNvSpPr/>
          <p:nvPr/>
        </p:nvSpPr>
        <p:spPr>
          <a:xfrm>
            <a:off x="2706922" y="2293660"/>
            <a:ext cx="1297587" cy="3790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Visual Skin Concerns</a:t>
            </a:r>
          </a:p>
          <a:p>
            <a:r>
              <a:rPr lang="en-US" sz="914" dirty="0">
                <a:solidFill>
                  <a:schemeClr val="tx1"/>
                </a:solidFill>
              </a:rPr>
              <a:t>     + 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152321" y="1969738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39038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525314" y="149081"/>
            <a:ext cx="8434288" cy="5792222"/>
            <a:chOff x="942975" y="429534"/>
            <a:chExt cx="4981575" cy="7600950"/>
          </a:xfrm>
        </p:grpSpPr>
        <p:sp>
          <p:nvSpPr>
            <p:cNvPr id="2" name="Rectangle 1"/>
            <p:cNvSpPr/>
            <p:nvPr/>
          </p:nvSpPr>
          <p:spPr>
            <a:xfrm>
              <a:off x="942975" y="429534"/>
              <a:ext cx="4981575" cy="76009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pic>
          <p:nvPicPr>
            <p:cNvPr id="30" name="Picture 2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12" b="26164"/>
            <a:stretch/>
          </p:blipFill>
          <p:spPr>
            <a:xfrm>
              <a:off x="3291283" y="875330"/>
              <a:ext cx="745018" cy="356555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997563" y="921820"/>
            <a:ext cx="301225" cy="399213"/>
            <a:chOff x="8634412" y="1219200"/>
            <a:chExt cx="676275" cy="933450"/>
          </a:xfrm>
        </p:grpSpPr>
        <p:sp>
          <p:nvSpPr>
            <p:cNvPr id="5" name="Smiley Face 4"/>
            <p:cNvSpPr/>
            <p:nvPr/>
          </p:nvSpPr>
          <p:spPr>
            <a:xfrm>
              <a:off x="8753475" y="1219200"/>
              <a:ext cx="438150" cy="428625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12" name="Snip Same Side Corner Rectangle 11"/>
            <p:cNvSpPr/>
            <p:nvPr/>
          </p:nvSpPr>
          <p:spPr>
            <a:xfrm>
              <a:off x="8634412" y="1647825"/>
              <a:ext cx="676275" cy="504825"/>
            </a:xfrm>
            <a:prstGeom prst="snip2Same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</p:grpSp>
      <p:sp>
        <p:nvSpPr>
          <p:cNvPr id="15" name="Down Arrow 14"/>
          <p:cNvSpPr/>
          <p:nvPr/>
        </p:nvSpPr>
        <p:spPr>
          <a:xfrm rot="16200000">
            <a:off x="1921607" y="352035"/>
            <a:ext cx="420989" cy="15605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16" name="TextBox 15"/>
          <p:cNvSpPr txBox="1"/>
          <p:nvPr/>
        </p:nvSpPr>
        <p:spPr>
          <a:xfrm>
            <a:off x="1793889" y="1026773"/>
            <a:ext cx="489236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LOGIN</a:t>
            </a:r>
            <a:endParaRPr lang="en-AU" sz="914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034" y="4497056"/>
            <a:ext cx="1340899" cy="134089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427" y="4791312"/>
            <a:ext cx="868805" cy="86880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45969">
            <a:off x="9870005" y="4612532"/>
            <a:ext cx="604688" cy="675930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6742458" y="3889229"/>
            <a:ext cx="1765907" cy="1921167"/>
            <a:chOff x="4200525" y="2413236"/>
            <a:chExt cx="2157723" cy="3015801"/>
          </a:xfrm>
        </p:grpSpPr>
        <p:sp>
          <p:nvSpPr>
            <p:cNvPr id="33" name="Folded Corner 32"/>
            <p:cNvSpPr/>
            <p:nvPr/>
          </p:nvSpPr>
          <p:spPr>
            <a:xfrm>
              <a:off x="4200525" y="2438400"/>
              <a:ext cx="2047875" cy="2892268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292639" y="2413236"/>
              <a:ext cx="2065609" cy="3015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14" dirty="0"/>
                <a:t>All Skin Concerns: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SC00x + SC10y + </a:t>
              </a:r>
              <a:r>
                <a:rPr lang="en-US" sz="914" dirty="0" smtClean="0"/>
                <a:t>SC20z + …</a:t>
              </a:r>
              <a:endParaRPr lang="en-US" sz="914" dirty="0"/>
            </a:p>
            <a:p>
              <a:endParaRPr lang="en-US" sz="914" dirty="0"/>
            </a:p>
            <a:p>
              <a:r>
                <a:rPr lang="en-US" sz="914" dirty="0"/>
                <a:t>Actives: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Active a + Active b + …</a:t>
              </a:r>
            </a:p>
            <a:p>
              <a:r>
                <a:rPr lang="en-US" sz="914" dirty="0"/>
                <a:t>Base: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Base n</a:t>
              </a:r>
            </a:p>
            <a:p>
              <a:endParaRPr lang="en-US" sz="914" dirty="0"/>
            </a:p>
            <a:p>
              <a:r>
                <a:rPr lang="en-US" sz="914" dirty="0"/>
                <a:t>AI Explanation: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Summation of </a:t>
              </a:r>
            </a:p>
            <a:p>
              <a:r>
                <a:rPr lang="en-US" sz="914" dirty="0"/>
                <a:t>     AI Explanation Texts</a:t>
              </a:r>
            </a:p>
            <a:p>
              <a:endParaRPr lang="en-US" sz="914" dirty="0"/>
            </a:p>
            <a:p>
              <a:r>
                <a:rPr lang="en-US" sz="914" strike="sngStrike" dirty="0"/>
                <a:t>Price: $20</a:t>
              </a:r>
              <a:endParaRPr lang="en-AU" sz="914" strike="sngStrike" dirty="0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2950967" y="710863"/>
            <a:ext cx="1897189" cy="859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20" name="Group 19"/>
          <p:cNvGrpSpPr/>
          <p:nvPr/>
        </p:nvGrpSpPr>
        <p:grpSpPr>
          <a:xfrm>
            <a:off x="3045165" y="869363"/>
            <a:ext cx="590885" cy="536548"/>
            <a:chOff x="3337214" y="1450230"/>
            <a:chExt cx="637845" cy="690121"/>
          </a:xfrm>
        </p:grpSpPr>
        <p:sp>
          <p:nvSpPr>
            <p:cNvPr id="17" name="Frame 16"/>
            <p:cNvSpPr/>
            <p:nvPr/>
          </p:nvSpPr>
          <p:spPr>
            <a:xfrm>
              <a:off x="3337214" y="1450230"/>
              <a:ext cx="568104" cy="690121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>
                <a:solidFill>
                  <a:schemeClr val="tx1"/>
                </a:solidFill>
              </a:endParaRPr>
            </a:p>
          </p:txBody>
        </p:sp>
        <p:sp>
          <p:nvSpPr>
            <p:cNvPr id="19" name="Smiley Face 18"/>
            <p:cNvSpPr/>
            <p:nvPr/>
          </p:nvSpPr>
          <p:spPr>
            <a:xfrm>
              <a:off x="3476950" y="1577604"/>
              <a:ext cx="276225" cy="295273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51980" y="1818543"/>
              <a:ext cx="623079" cy="305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14" dirty="0"/>
                <a:t>Image</a:t>
              </a:r>
              <a:endParaRPr lang="en-AU" sz="914" dirty="0"/>
            </a:p>
          </p:txBody>
        </p:sp>
      </p:grpSp>
      <p:sp>
        <p:nvSpPr>
          <p:cNvPr id="22" name="Folded Corner 21"/>
          <p:cNvSpPr/>
          <p:nvPr/>
        </p:nvSpPr>
        <p:spPr>
          <a:xfrm>
            <a:off x="3812352" y="869364"/>
            <a:ext cx="861535" cy="525899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dirty="0" smtClean="0">
                <a:solidFill>
                  <a:schemeClr val="tx1"/>
                </a:solidFill>
              </a:rPr>
              <a:t>Questionnaire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40" name="Left Arrow 39"/>
          <p:cNvSpPr/>
          <p:nvPr/>
        </p:nvSpPr>
        <p:spPr>
          <a:xfrm rot="16200000">
            <a:off x="2878463" y="1652117"/>
            <a:ext cx="772121" cy="2862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42" name="Rounded Rectangle 41"/>
          <p:cNvSpPr/>
          <p:nvPr/>
        </p:nvSpPr>
        <p:spPr>
          <a:xfrm>
            <a:off x="2934995" y="2191645"/>
            <a:ext cx="672808" cy="2282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dirty="0"/>
              <a:t>Visual AI</a:t>
            </a:r>
            <a:endParaRPr lang="en-AU" sz="914" dirty="0"/>
          </a:p>
        </p:txBody>
      </p:sp>
      <p:sp>
        <p:nvSpPr>
          <p:cNvPr id="58" name="Left Arrow 57"/>
          <p:cNvSpPr/>
          <p:nvPr/>
        </p:nvSpPr>
        <p:spPr>
          <a:xfrm rot="16200000">
            <a:off x="3113794" y="2422849"/>
            <a:ext cx="327942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47" name="Group 46"/>
          <p:cNvGrpSpPr/>
          <p:nvPr/>
        </p:nvGrpSpPr>
        <p:grpSpPr>
          <a:xfrm>
            <a:off x="2829259" y="3941341"/>
            <a:ext cx="3288578" cy="407993"/>
            <a:chOff x="2951322" y="3685146"/>
            <a:chExt cx="3096015" cy="535396"/>
          </a:xfrm>
        </p:grpSpPr>
        <p:sp>
          <p:nvSpPr>
            <p:cNvPr id="60" name="Rounded Rectangle 59"/>
            <p:cNvSpPr/>
            <p:nvPr/>
          </p:nvSpPr>
          <p:spPr>
            <a:xfrm>
              <a:off x="2951322" y="3690688"/>
              <a:ext cx="2425306" cy="52985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14" dirty="0" smtClean="0"/>
                <a:t>              LLM    </a:t>
              </a:r>
              <a:endParaRPr lang="en-AU" sz="914" dirty="0"/>
            </a:p>
          </p:txBody>
        </p:sp>
        <p:sp>
          <p:nvSpPr>
            <p:cNvPr id="68" name="Left Arrow 67"/>
            <p:cNvSpPr/>
            <p:nvPr/>
          </p:nvSpPr>
          <p:spPr>
            <a:xfrm>
              <a:off x="5040693" y="3718773"/>
              <a:ext cx="472314" cy="426053"/>
            </a:xfrm>
            <a:prstGeom prst="leftArrow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5383997" y="3685146"/>
              <a:ext cx="663340" cy="52985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14" dirty="0" smtClean="0"/>
                <a:t>CelRevive</a:t>
              </a:r>
              <a:endParaRPr lang="en-US" sz="914" dirty="0"/>
            </a:p>
            <a:p>
              <a:pPr algn="ctr"/>
              <a:r>
                <a:rPr lang="en-US" sz="914" dirty="0"/>
                <a:t>RAG</a:t>
              </a:r>
              <a:endParaRPr lang="en-AU" sz="914" dirty="0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3127750" y="1826774"/>
            <a:ext cx="259927" cy="303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6" name="Left Arrow 85"/>
          <p:cNvSpPr/>
          <p:nvPr/>
        </p:nvSpPr>
        <p:spPr>
          <a:xfrm rot="16200000">
            <a:off x="3784306" y="4225409"/>
            <a:ext cx="484411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90" name="Rectangle 89"/>
          <p:cNvSpPr/>
          <p:nvPr/>
        </p:nvSpPr>
        <p:spPr>
          <a:xfrm>
            <a:off x="3199565" y="4628644"/>
            <a:ext cx="2367277" cy="7253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List </a:t>
            </a:r>
            <a:r>
              <a:rPr lang="en-US" sz="914" dirty="0">
                <a:solidFill>
                  <a:schemeClr val="tx1"/>
                </a:solidFill>
              </a:rPr>
              <a:t>of bases + AI Explanations</a:t>
            </a:r>
          </a:p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Actives + AI Explanations</a:t>
            </a:r>
          </a:p>
          <a:p>
            <a:pPr marL="558568" lvl="1" indent="-130645">
              <a:buFont typeface="Courier New" panose="02070309020205020404" pitchFamily="49" charset="0"/>
              <a:buChar char="o"/>
            </a:pPr>
            <a:r>
              <a:rPr lang="en-US" sz="914" dirty="0">
                <a:solidFill>
                  <a:schemeClr val="tx1"/>
                </a:solidFill>
              </a:rPr>
              <a:t>compatible to bases</a:t>
            </a:r>
          </a:p>
          <a:p>
            <a:pPr marL="558568" lvl="1" indent="-130645">
              <a:buFont typeface="Courier New" panose="02070309020205020404" pitchFamily="49" charset="0"/>
              <a:buChar char="o"/>
            </a:pPr>
            <a:r>
              <a:rPr lang="en-US" sz="914" dirty="0">
                <a:solidFill>
                  <a:schemeClr val="tx1"/>
                </a:solidFill>
              </a:rPr>
              <a:t>effective for skin </a:t>
            </a:r>
            <a:r>
              <a:rPr lang="en-US" sz="914" dirty="0" smtClean="0">
                <a:solidFill>
                  <a:schemeClr val="tx1"/>
                </a:solidFill>
              </a:rPr>
              <a:t>concerns</a:t>
            </a:r>
            <a:endParaRPr lang="en-US" sz="914" dirty="0">
              <a:solidFill>
                <a:schemeClr val="tx1"/>
              </a:solidFill>
            </a:endParaRPr>
          </a:p>
          <a:p>
            <a:pPr marL="142173" indent="-171450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Combined Skin </a:t>
            </a:r>
            <a:r>
              <a:rPr lang="en-US" sz="914" dirty="0">
                <a:solidFill>
                  <a:schemeClr val="tx1"/>
                </a:solidFill>
              </a:rPr>
              <a:t>Concerns + AI </a:t>
            </a:r>
            <a:r>
              <a:rPr lang="en-US" sz="914" dirty="0" smtClean="0">
                <a:solidFill>
                  <a:schemeClr val="tx1"/>
                </a:solidFill>
              </a:rPr>
              <a:t>Explanations</a:t>
            </a:r>
            <a:endParaRPr lang="en-US" sz="914" dirty="0">
              <a:solidFill>
                <a:schemeClr val="tx1"/>
              </a:solidFill>
            </a:endParaRPr>
          </a:p>
        </p:txBody>
      </p:sp>
      <p:sp>
        <p:nvSpPr>
          <p:cNvPr id="97" name="Left Arrow 96"/>
          <p:cNvSpPr/>
          <p:nvPr/>
        </p:nvSpPr>
        <p:spPr>
          <a:xfrm rot="16200000">
            <a:off x="3749860" y="2907712"/>
            <a:ext cx="480140" cy="3542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99" name="Left Arrow 98"/>
          <p:cNvSpPr/>
          <p:nvPr/>
        </p:nvSpPr>
        <p:spPr>
          <a:xfrm rot="10800000">
            <a:off x="5564819" y="4715045"/>
            <a:ext cx="1189030" cy="3099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100" name="TextBox 99"/>
          <p:cNvSpPr txBox="1"/>
          <p:nvPr/>
        </p:nvSpPr>
        <p:spPr>
          <a:xfrm>
            <a:off x="5805068" y="4764484"/>
            <a:ext cx="71045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Formatting</a:t>
            </a:r>
            <a:endParaRPr lang="en-AU" sz="914" dirty="0"/>
          </a:p>
        </p:txBody>
      </p:sp>
      <p:sp>
        <p:nvSpPr>
          <p:cNvPr id="101" name="Left Arrow 100"/>
          <p:cNvSpPr/>
          <p:nvPr/>
        </p:nvSpPr>
        <p:spPr>
          <a:xfrm rot="10800000">
            <a:off x="8313665" y="4512963"/>
            <a:ext cx="1724761" cy="32097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102" name="TextBox 101"/>
          <p:cNvSpPr txBox="1"/>
          <p:nvPr/>
        </p:nvSpPr>
        <p:spPr>
          <a:xfrm>
            <a:off x="8403302" y="4566516"/>
            <a:ext cx="1510350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To check out/ shopping cart</a:t>
            </a:r>
            <a:endParaRPr lang="en-AU" sz="914" dirty="0"/>
          </a:p>
        </p:txBody>
      </p:sp>
      <p:sp>
        <p:nvSpPr>
          <p:cNvPr id="103" name="TextBox 102"/>
          <p:cNvSpPr txBox="1"/>
          <p:nvPr/>
        </p:nvSpPr>
        <p:spPr>
          <a:xfrm>
            <a:off x="5992411" y="4540403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9120491" y="4332245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976295" y="1288445"/>
            <a:ext cx="404278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User</a:t>
            </a:r>
            <a:endParaRPr lang="en-AU" sz="914" dirty="0"/>
          </a:p>
        </p:txBody>
      </p:sp>
      <p:sp>
        <p:nvSpPr>
          <p:cNvPr id="59" name="Left Arrow 58"/>
          <p:cNvSpPr/>
          <p:nvPr/>
        </p:nvSpPr>
        <p:spPr>
          <a:xfrm rot="16200000">
            <a:off x="3996669" y="1633304"/>
            <a:ext cx="786047" cy="3099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48" name="Rounded Rectangle 47"/>
          <p:cNvSpPr/>
          <p:nvPr/>
        </p:nvSpPr>
        <p:spPr>
          <a:xfrm>
            <a:off x="4077027" y="2191644"/>
            <a:ext cx="672808" cy="2282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dirty="0" smtClean="0"/>
              <a:t>LLM</a:t>
            </a:r>
            <a:endParaRPr lang="en-AU" sz="914" dirty="0"/>
          </a:p>
        </p:txBody>
      </p:sp>
      <p:sp>
        <p:nvSpPr>
          <p:cNvPr id="83" name="TextBox 82"/>
          <p:cNvSpPr txBox="1"/>
          <p:nvPr/>
        </p:nvSpPr>
        <p:spPr>
          <a:xfrm>
            <a:off x="4261160" y="1822868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" name="Left Arrow 48"/>
          <p:cNvSpPr/>
          <p:nvPr/>
        </p:nvSpPr>
        <p:spPr>
          <a:xfrm rot="16200000">
            <a:off x="4239763" y="2419964"/>
            <a:ext cx="327942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50" name="Rectangle 49"/>
          <p:cNvSpPr/>
          <p:nvPr/>
        </p:nvSpPr>
        <p:spPr>
          <a:xfrm>
            <a:off x="4004542" y="2729252"/>
            <a:ext cx="1605748" cy="27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Questionnaire Skin Concerns + </a:t>
            </a:r>
            <a:r>
              <a:rPr lang="en-US" sz="914" dirty="0">
                <a:solidFill>
                  <a:schemeClr val="tx1"/>
                </a:solidFill>
              </a:rPr>
              <a:t>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709745" y="2730795"/>
            <a:ext cx="1284308" cy="27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Visual Skin Concerns</a:t>
            </a:r>
          </a:p>
          <a:p>
            <a:r>
              <a:rPr lang="en-US" sz="914" dirty="0">
                <a:solidFill>
                  <a:schemeClr val="tx1"/>
                </a:solidFill>
              </a:rPr>
              <a:t>     + 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218571" y="3313423"/>
            <a:ext cx="1491252" cy="27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Combined Skin Concerns + </a:t>
            </a:r>
            <a:r>
              <a:rPr lang="en-US" sz="914" dirty="0">
                <a:solidFill>
                  <a:schemeClr val="tx1"/>
                </a:solidFill>
              </a:rPr>
              <a:t>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855634" y="3010059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1" name="Left Arrow 90"/>
          <p:cNvSpPr/>
          <p:nvPr/>
        </p:nvSpPr>
        <p:spPr>
          <a:xfrm rot="16200000">
            <a:off x="3741860" y="3715506"/>
            <a:ext cx="541217" cy="3188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92" name="TextBox 91"/>
          <p:cNvSpPr txBox="1"/>
          <p:nvPr/>
        </p:nvSpPr>
        <p:spPr>
          <a:xfrm>
            <a:off x="3875252" y="3698984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U-Turn Arrow 3"/>
          <p:cNvSpPr/>
          <p:nvPr/>
        </p:nvSpPr>
        <p:spPr>
          <a:xfrm rot="5400000">
            <a:off x="3934691" y="1844556"/>
            <a:ext cx="2214450" cy="1952680"/>
          </a:xfrm>
          <a:prstGeom prst="uturnArrow">
            <a:avLst>
              <a:gd name="adj1" fmla="val 7720"/>
              <a:gd name="adj2" fmla="val 7169"/>
              <a:gd name="adj3" fmla="val 9390"/>
              <a:gd name="adj4" fmla="val 43750"/>
              <a:gd name="adj5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029549" y="1686375"/>
            <a:ext cx="720286" cy="205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Answers</a:t>
            </a:r>
            <a:endParaRPr lang="en-AU" sz="914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759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525314" y="149081"/>
            <a:ext cx="8434288" cy="5792222"/>
            <a:chOff x="942975" y="429534"/>
            <a:chExt cx="4981575" cy="7600950"/>
          </a:xfrm>
        </p:grpSpPr>
        <p:sp>
          <p:nvSpPr>
            <p:cNvPr id="2" name="Rectangle 1"/>
            <p:cNvSpPr/>
            <p:nvPr/>
          </p:nvSpPr>
          <p:spPr>
            <a:xfrm>
              <a:off x="942975" y="429534"/>
              <a:ext cx="4981575" cy="76009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pic>
          <p:nvPicPr>
            <p:cNvPr id="30" name="Picture 2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12" b="26164"/>
            <a:stretch/>
          </p:blipFill>
          <p:spPr>
            <a:xfrm>
              <a:off x="3291283" y="875330"/>
              <a:ext cx="745018" cy="356555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997563" y="921820"/>
            <a:ext cx="301225" cy="399213"/>
            <a:chOff x="8634412" y="1219200"/>
            <a:chExt cx="676275" cy="933450"/>
          </a:xfrm>
        </p:grpSpPr>
        <p:sp>
          <p:nvSpPr>
            <p:cNvPr id="5" name="Smiley Face 4"/>
            <p:cNvSpPr/>
            <p:nvPr/>
          </p:nvSpPr>
          <p:spPr>
            <a:xfrm>
              <a:off x="8753475" y="1219200"/>
              <a:ext cx="438150" cy="428625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12" name="Snip Same Side Corner Rectangle 11"/>
            <p:cNvSpPr/>
            <p:nvPr/>
          </p:nvSpPr>
          <p:spPr>
            <a:xfrm>
              <a:off x="8634412" y="1647825"/>
              <a:ext cx="676275" cy="504825"/>
            </a:xfrm>
            <a:prstGeom prst="snip2Same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</p:grpSp>
      <p:sp>
        <p:nvSpPr>
          <p:cNvPr id="15" name="Down Arrow 14"/>
          <p:cNvSpPr/>
          <p:nvPr/>
        </p:nvSpPr>
        <p:spPr>
          <a:xfrm rot="16200000">
            <a:off x="1921607" y="352035"/>
            <a:ext cx="420989" cy="15605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16" name="TextBox 15"/>
          <p:cNvSpPr txBox="1"/>
          <p:nvPr/>
        </p:nvSpPr>
        <p:spPr>
          <a:xfrm>
            <a:off x="1793889" y="1026773"/>
            <a:ext cx="489236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LOGIN</a:t>
            </a:r>
            <a:endParaRPr lang="en-AU" sz="914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034" y="4497056"/>
            <a:ext cx="1340899" cy="134089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427" y="4791312"/>
            <a:ext cx="868805" cy="86880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45969">
            <a:off x="9870005" y="4612532"/>
            <a:ext cx="604688" cy="675930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6701513" y="3585146"/>
            <a:ext cx="1959148" cy="2248788"/>
            <a:chOff x="4200525" y="2413236"/>
            <a:chExt cx="2393841" cy="2917432"/>
          </a:xfrm>
        </p:grpSpPr>
        <p:sp>
          <p:nvSpPr>
            <p:cNvPr id="33" name="Folded Corner 32"/>
            <p:cNvSpPr/>
            <p:nvPr/>
          </p:nvSpPr>
          <p:spPr>
            <a:xfrm>
              <a:off x="4200525" y="2438400"/>
              <a:ext cx="2047875" cy="2892268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250948" y="2413236"/>
              <a:ext cx="2343418" cy="2857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14" dirty="0"/>
                <a:t>All Skin Concerns: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SC00x + SC10y + </a:t>
              </a:r>
              <a:r>
                <a:rPr lang="en-US" sz="914" dirty="0" smtClean="0"/>
                <a:t>SC20z + …</a:t>
              </a:r>
              <a:endParaRPr lang="en-US" sz="914" dirty="0"/>
            </a:p>
            <a:p>
              <a:endParaRPr lang="en-US" sz="914" dirty="0"/>
            </a:p>
            <a:p>
              <a:r>
                <a:rPr lang="en-US" sz="914" dirty="0"/>
                <a:t>Actives: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Active a + Active b + …</a:t>
              </a:r>
            </a:p>
            <a:p>
              <a:r>
                <a:rPr lang="en-US" sz="914" dirty="0"/>
                <a:t>Base: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Base n</a:t>
              </a:r>
            </a:p>
            <a:p>
              <a:endParaRPr lang="en-US" sz="914" dirty="0"/>
            </a:p>
            <a:p>
              <a:r>
                <a:rPr lang="en-US" sz="914" dirty="0"/>
                <a:t>AI Explanation:</a:t>
              </a:r>
            </a:p>
            <a:p>
              <a:pPr marL="130645" indent="-130645">
                <a:buFont typeface="Arial" panose="020B0604020202020204" pitchFamily="34" charset="0"/>
                <a:buChar char="•"/>
              </a:pPr>
              <a:r>
                <a:rPr lang="en-US" sz="914" dirty="0"/>
                <a:t>Summation of </a:t>
              </a:r>
            </a:p>
            <a:p>
              <a:r>
                <a:rPr lang="en-US" sz="914" dirty="0"/>
                <a:t>     AI Explanation Texts</a:t>
              </a:r>
            </a:p>
            <a:p>
              <a:endParaRPr lang="en-US" sz="914" dirty="0"/>
            </a:p>
            <a:p>
              <a:r>
                <a:rPr lang="en-US" sz="914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Size based Price Options: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14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50gms - $N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14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100gms - $M</a:t>
              </a:r>
              <a:endParaRPr lang="en-AU" sz="914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1" name="Rectangle 40"/>
          <p:cNvSpPr/>
          <p:nvPr/>
        </p:nvSpPr>
        <p:spPr>
          <a:xfrm>
            <a:off x="2950967" y="710863"/>
            <a:ext cx="1897189" cy="859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20" name="Group 19"/>
          <p:cNvGrpSpPr/>
          <p:nvPr/>
        </p:nvGrpSpPr>
        <p:grpSpPr>
          <a:xfrm>
            <a:off x="3045165" y="869363"/>
            <a:ext cx="590885" cy="536548"/>
            <a:chOff x="3337214" y="1450230"/>
            <a:chExt cx="637845" cy="690121"/>
          </a:xfrm>
        </p:grpSpPr>
        <p:sp>
          <p:nvSpPr>
            <p:cNvPr id="17" name="Frame 16"/>
            <p:cNvSpPr/>
            <p:nvPr/>
          </p:nvSpPr>
          <p:spPr>
            <a:xfrm>
              <a:off x="3337214" y="1450230"/>
              <a:ext cx="568104" cy="690121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>
                <a:solidFill>
                  <a:schemeClr val="tx1"/>
                </a:solidFill>
              </a:endParaRPr>
            </a:p>
          </p:txBody>
        </p:sp>
        <p:sp>
          <p:nvSpPr>
            <p:cNvPr id="19" name="Smiley Face 18"/>
            <p:cNvSpPr/>
            <p:nvPr/>
          </p:nvSpPr>
          <p:spPr>
            <a:xfrm>
              <a:off x="3476950" y="1577604"/>
              <a:ext cx="276225" cy="295273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51980" y="1818543"/>
              <a:ext cx="623079" cy="305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14" dirty="0"/>
                <a:t>Image</a:t>
              </a:r>
              <a:endParaRPr lang="en-AU" sz="914" dirty="0"/>
            </a:p>
          </p:txBody>
        </p:sp>
      </p:grpSp>
      <p:sp>
        <p:nvSpPr>
          <p:cNvPr id="22" name="Folded Corner 21"/>
          <p:cNvSpPr/>
          <p:nvPr/>
        </p:nvSpPr>
        <p:spPr>
          <a:xfrm>
            <a:off x="3812352" y="869364"/>
            <a:ext cx="861535" cy="525899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Reorganized &amp; Optimized</a:t>
            </a:r>
            <a:r>
              <a:rPr lang="en-US" sz="914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914" dirty="0" smtClean="0">
                <a:solidFill>
                  <a:schemeClr val="tx1"/>
                </a:solidFill>
              </a:rPr>
              <a:t>Questionnaire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40" name="Left Arrow 39"/>
          <p:cNvSpPr/>
          <p:nvPr/>
        </p:nvSpPr>
        <p:spPr>
          <a:xfrm rot="16200000">
            <a:off x="2878463" y="1652117"/>
            <a:ext cx="772121" cy="2862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 dirty="0"/>
          </a:p>
        </p:txBody>
      </p:sp>
      <p:sp>
        <p:nvSpPr>
          <p:cNvPr id="42" name="Rounded Rectangle 41"/>
          <p:cNvSpPr/>
          <p:nvPr/>
        </p:nvSpPr>
        <p:spPr>
          <a:xfrm>
            <a:off x="2934995" y="2191645"/>
            <a:ext cx="672808" cy="2282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dirty="0"/>
              <a:t>Visual AI</a:t>
            </a:r>
            <a:endParaRPr lang="en-AU" sz="914" dirty="0"/>
          </a:p>
        </p:txBody>
      </p:sp>
      <p:sp>
        <p:nvSpPr>
          <p:cNvPr id="58" name="Left Arrow 57"/>
          <p:cNvSpPr/>
          <p:nvPr/>
        </p:nvSpPr>
        <p:spPr>
          <a:xfrm rot="16200000">
            <a:off x="3113794" y="2422849"/>
            <a:ext cx="327942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grpSp>
        <p:nvGrpSpPr>
          <p:cNvPr id="47" name="Group 46"/>
          <p:cNvGrpSpPr/>
          <p:nvPr/>
        </p:nvGrpSpPr>
        <p:grpSpPr>
          <a:xfrm>
            <a:off x="2590424" y="3859339"/>
            <a:ext cx="3846470" cy="540363"/>
            <a:chOff x="2951322" y="3577539"/>
            <a:chExt cx="3096015" cy="709101"/>
          </a:xfrm>
        </p:grpSpPr>
        <p:sp>
          <p:nvSpPr>
            <p:cNvPr id="60" name="Rounded Rectangle 59"/>
            <p:cNvSpPr/>
            <p:nvPr/>
          </p:nvSpPr>
          <p:spPr>
            <a:xfrm>
              <a:off x="2951322" y="3690688"/>
              <a:ext cx="2425306" cy="52985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14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Deterministic Rule </a:t>
              </a:r>
              <a:r>
                <a:rPr lang="en-US" sz="914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Engine </a:t>
              </a:r>
              <a:r>
                <a:rPr lang="en-US" sz="914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r>
                <a:rPr lang="en-AU" sz="914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/>
              </a:r>
              <a:br>
                <a:rPr lang="en-AU" sz="914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</a:br>
              <a:r>
                <a:rPr lang="en-US" sz="914" strike="sngStrike" dirty="0" smtClean="0"/>
                <a:t>LLM</a:t>
              </a:r>
              <a:r>
                <a:rPr lang="en-US" sz="914" dirty="0" smtClean="0"/>
                <a:t>    </a:t>
              </a:r>
              <a:endParaRPr lang="en-AU" sz="914" dirty="0"/>
            </a:p>
          </p:txBody>
        </p:sp>
        <p:sp>
          <p:nvSpPr>
            <p:cNvPr id="68" name="Left Arrow 67"/>
            <p:cNvSpPr/>
            <p:nvPr/>
          </p:nvSpPr>
          <p:spPr>
            <a:xfrm>
              <a:off x="5040693" y="3718773"/>
              <a:ext cx="472314" cy="426053"/>
            </a:xfrm>
            <a:prstGeom prst="leftArrow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72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5383997" y="3577539"/>
              <a:ext cx="663340" cy="70910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14" dirty="0" smtClean="0"/>
                <a:t>CelRevive</a:t>
              </a:r>
              <a:endParaRPr lang="en-US" sz="914" dirty="0"/>
            </a:p>
            <a:p>
              <a:pPr algn="ctr"/>
              <a:r>
                <a:rPr lang="en-US" sz="914" strike="sngStrike" dirty="0" smtClean="0"/>
                <a:t>RAG</a:t>
              </a:r>
              <a:r>
                <a:rPr lang="en-US" sz="914" dirty="0" smtClean="0"/>
                <a:t> </a:t>
              </a:r>
              <a:r>
                <a:rPr lang="en-US" sz="914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Proprietary Knowledge</a:t>
              </a:r>
              <a:endParaRPr lang="en-AU" sz="914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3127750" y="1826774"/>
            <a:ext cx="259927" cy="303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6" name="Left Arrow 85"/>
          <p:cNvSpPr/>
          <p:nvPr/>
        </p:nvSpPr>
        <p:spPr>
          <a:xfrm rot="16200000">
            <a:off x="3861082" y="4334593"/>
            <a:ext cx="330859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90" name="Rectangle 89"/>
          <p:cNvSpPr/>
          <p:nvPr/>
        </p:nvSpPr>
        <p:spPr>
          <a:xfrm>
            <a:off x="3199565" y="4628644"/>
            <a:ext cx="2367277" cy="7253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List </a:t>
            </a:r>
            <a:r>
              <a:rPr lang="en-US" sz="914" dirty="0">
                <a:solidFill>
                  <a:schemeClr val="tx1"/>
                </a:solidFill>
              </a:rPr>
              <a:t>of bases + AI Explanations</a:t>
            </a:r>
          </a:p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Actives + AI Explanations</a:t>
            </a:r>
          </a:p>
          <a:p>
            <a:pPr marL="558568" lvl="1" indent="-130645">
              <a:buFont typeface="Courier New" panose="02070309020205020404" pitchFamily="49" charset="0"/>
              <a:buChar char="o"/>
            </a:pPr>
            <a:r>
              <a:rPr lang="en-US" sz="914" dirty="0">
                <a:solidFill>
                  <a:schemeClr val="tx1"/>
                </a:solidFill>
              </a:rPr>
              <a:t>compatible to bases</a:t>
            </a:r>
          </a:p>
          <a:p>
            <a:pPr marL="558568" lvl="1" indent="-130645">
              <a:buFont typeface="Courier New" panose="02070309020205020404" pitchFamily="49" charset="0"/>
              <a:buChar char="o"/>
            </a:pPr>
            <a:r>
              <a:rPr lang="en-US" sz="914" dirty="0">
                <a:solidFill>
                  <a:schemeClr val="tx1"/>
                </a:solidFill>
              </a:rPr>
              <a:t>effective for skin </a:t>
            </a:r>
            <a:r>
              <a:rPr lang="en-US" sz="914" dirty="0" smtClean="0">
                <a:solidFill>
                  <a:schemeClr val="tx1"/>
                </a:solidFill>
              </a:rPr>
              <a:t>concerns</a:t>
            </a:r>
            <a:endParaRPr lang="en-US" sz="914" dirty="0">
              <a:solidFill>
                <a:schemeClr val="tx1"/>
              </a:solidFill>
            </a:endParaRPr>
          </a:p>
          <a:p>
            <a:pPr marL="142173" indent="-171450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Combined Skin </a:t>
            </a:r>
            <a:r>
              <a:rPr lang="en-US" sz="914" dirty="0">
                <a:solidFill>
                  <a:schemeClr val="tx1"/>
                </a:solidFill>
              </a:rPr>
              <a:t>Concerns + AI </a:t>
            </a:r>
            <a:r>
              <a:rPr lang="en-US" sz="914" dirty="0" smtClean="0">
                <a:solidFill>
                  <a:schemeClr val="tx1"/>
                </a:solidFill>
              </a:rPr>
              <a:t>Explanations</a:t>
            </a:r>
            <a:endParaRPr lang="en-US" sz="914" dirty="0">
              <a:solidFill>
                <a:schemeClr val="tx1"/>
              </a:solidFill>
            </a:endParaRPr>
          </a:p>
        </p:txBody>
      </p:sp>
      <p:sp>
        <p:nvSpPr>
          <p:cNvPr id="97" name="Left Arrow 96"/>
          <p:cNvSpPr/>
          <p:nvPr/>
        </p:nvSpPr>
        <p:spPr>
          <a:xfrm rot="16200000">
            <a:off x="3749860" y="2907712"/>
            <a:ext cx="480140" cy="3542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99" name="Left Arrow 98"/>
          <p:cNvSpPr/>
          <p:nvPr/>
        </p:nvSpPr>
        <p:spPr>
          <a:xfrm rot="10800000">
            <a:off x="5564819" y="4715045"/>
            <a:ext cx="1189030" cy="3099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100" name="TextBox 99"/>
          <p:cNvSpPr txBox="1"/>
          <p:nvPr/>
        </p:nvSpPr>
        <p:spPr>
          <a:xfrm>
            <a:off x="5805068" y="4764484"/>
            <a:ext cx="71045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Formatting</a:t>
            </a:r>
            <a:endParaRPr lang="en-AU" sz="914" dirty="0"/>
          </a:p>
        </p:txBody>
      </p:sp>
      <p:sp>
        <p:nvSpPr>
          <p:cNvPr id="101" name="Left Arrow 100"/>
          <p:cNvSpPr/>
          <p:nvPr/>
        </p:nvSpPr>
        <p:spPr>
          <a:xfrm rot="10800000">
            <a:off x="8313665" y="4512963"/>
            <a:ext cx="1724761" cy="32097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102" name="TextBox 101"/>
          <p:cNvSpPr txBox="1"/>
          <p:nvPr/>
        </p:nvSpPr>
        <p:spPr>
          <a:xfrm>
            <a:off x="8403302" y="4566516"/>
            <a:ext cx="1510350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To check out/ shopping cart</a:t>
            </a:r>
            <a:endParaRPr lang="en-AU" sz="914" dirty="0"/>
          </a:p>
        </p:txBody>
      </p:sp>
      <p:sp>
        <p:nvSpPr>
          <p:cNvPr id="103" name="TextBox 102"/>
          <p:cNvSpPr txBox="1"/>
          <p:nvPr/>
        </p:nvSpPr>
        <p:spPr>
          <a:xfrm>
            <a:off x="5992411" y="4540403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9120491" y="4332245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976295" y="1288445"/>
            <a:ext cx="404278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dirty="0"/>
              <a:t>User</a:t>
            </a:r>
            <a:endParaRPr lang="en-AU" sz="914" dirty="0"/>
          </a:p>
        </p:txBody>
      </p:sp>
      <p:sp>
        <p:nvSpPr>
          <p:cNvPr id="59" name="Left Arrow 58"/>
          <p:cNvSpPr/>
          <p:nvPr/>
        </p:nvSpPr>
        <p:spPr>
          <a:xfrm rot="16200000">
            <a:off x="3996669" y="1633304"/>
            <a:ext cx="786047" cy="3099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48" name="Rounded Rectangle 47"/>
          <p:cNvSpPr/>
          <p:nvPr/>
        </p:nvSpPr>
        <p:spPr>
          <a:xfrm>
            <a:off x="3965677" y="2101268"/>
            <a:ext cx="895508" cy="4294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14" strike="sngStrik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LLM</a:t>
            </a:r>
          </a:p>
          <a:p>
            <a:pPr algn="ctr"/>
            <a:r>
              <a:rPr lang="en-US" sz="914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Deterministic Rule Engine 1</a:t>
            </a:r>
            <a:endParaRPr lang="en-AU" sz="914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261160" y="1822868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" name="Left Arrow 48"/>
          <p:cNvSpPr/>
          <p:nvPr/>
        </p:nvSpPr>
        <p:spPr>
          <a:xfrm rot="16200000">
            <a:off x="4268221" y="2501852"/>
            <a:ext cx="271026" cy="3220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50" name="Rectangle 49"/>
          <p:cNvSpPr/>
          <p:nvPr/>
        </p:nvSpPr>
        <p:spPr>
          <a:xfrm>
            <a:off x="4004542" y="2729252"/>
            <a:ext cx="1605748" cy="27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Questionnaire Skin Concerns + </a:t>
            </a:r>
            <a:r>
              <a:rPr lang="en-US" sz="914" dirty="0">
                <a:solidFill>
                  <a:schemeClr val="tx1"/>
                </a:solidFill>
              </a:rPr>
              <a:t>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709745" y="2730795"/>
            <a:ext cx="1284308" cy="27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Visual Skin Concerns</a:t>
            </a:r>
          </a:p>
          <a:p>
            <a:r>
              <a:rPr lang="en-US" sz="914" dirty="0">
                <a:solidFill>
                  <a:schemeClr val="tx1"/>
                </a:solidFill>
              </a:rPr>
              <a:t>     + 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218571" y="3313423"/>
            <a:ext cx="1491252" cy="274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 smtClean="0">
                <a:solidFill>
                  <a:schemeClr val="tx1"/>
                </a:solidFill>
              </a:rPr>
              <a:t>Combined Skin Concerns + </a:t>
            </a:r>
            <a:r>
              <a:rPr lang="en-US" sz="914" dirty="0">
                <a:solidFill>
                  <a:schemeClr val="tx1"/>
                </a:solidFill>
              </a:rPr>
              <a:t>AI Explanations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855634" y="3010059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1" name="Left Arrow 90"/>
          <p:cNvSpPr/>
          <p:nvPr/>
        </p:nvSpPr>
        <p:spPr>
          <a:xfrm rot="16200000">
            <a:off x="3809156" y="3626794"/>
            <a:ext cx="406624" cy="3188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72"/>
          </a:p>
        </p:txBody>
      </p:sp>
      <p:sp>
        <p:nvSpPr>
          <p:cNvPr id="92" name="TextBox 91"/>
          <p:cNvSpPr txBox="1"/>
          <p:nvPr/>
        </p:nvSpPr>
        <p:spPr>
          <a:xfrm>
            <a:off x="3875252" y="3576152"/>
            <a:ext cx="27443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72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en-AU" sz="1372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U-Turn Arrow 3"/>
          <p:cNvSpPr/>
          <p:nvPr/>
        </p:nvSpPr>
        <p:spPr>
          <a:xfrm rot="5400000">
            <a:off x="3934691" y="1830908"/>
            <a:ext cx="2214450" cy="1952680"/>
          </a:xfrm>
          <a:prstGeom prst="uturnArrow">
            <a:avLst>
              <a:gd name="adj1" fmla="val 7720"/>
              <a:gd name="adj2" fmla="val 7169"/>
              <a:gd name="adj3" fmla="val 9390"/>
              <a:gd name="adj4" fmla="val 43750"/>
              <a:gd name="adj5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029549" y="1686375"/>
            <a:ext cx="720286" cy="205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0645" indent="-130645">
              <a:buFont typeface="Arial" panose="020B0604020202020204" pitchFamily="34" charset="0"/>
              <a:buChar char="•"/>
            </a:pPr>
            <a:r>
              <a:rPr lang="en-US" sz="914" dirty="0">
                <a:solidFill>
                  <a:schemeClr val="tx1"/>
                </a:solidFill>
              </a:rPr>
              <a:t>Answers</a:t>
            </a:r>
            <a:endParaRPr lang="en-AU" sz="914" dirty="0">
              <a:solidFill>
                <a:schemeClr val="tx1"/>
              </a:solidFill>
            </a:endParaRPr>
          </a:p>
        </p:txBody>
      </p:sp>
      <p:sp>
        <p:nvSpPr>
          <p:cNvPr id="6" name="Bent Arrow 5"/>
          <p:cNvSpPr/>
          <p:nvPr/>
        </p:nvSpPr>
        <p:spPr>
          <a:xfrm rot="10800000" flipH="1">
            <a:off x="1362603" y="1372104"/>
            <a:ext cx="5496494" cy="4340504"/>
          </a:xfrm>
          <a:prstGeom prst="bentArrow">
            <a:avLst>
              <a:gd name="adj1" fmla="val 4004"/>
              <a:gd name="adj2" fmla="val 2831"/>
              <a:gd name="adj3" fmla="val 2892"/>
              <a:gd name="adj4" fmla="val 92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748128" y="5459068"/>
            <a:ext cx="840295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4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Size selection</a:t>
            </a:r>
            <a:endParaRPr lang="en-AU" sz="914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84315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551</Words>
  <Application>Microsoft Office PowerPoint</Application>
  <PresentationFormat>Widescreen</PresentationFormat>
  <Paragraphs>157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23</cp:revision>
  <dcterms:created xsi:type="dcterms:W3CDTF">2026-08-14T03:15:05Z</dcterms:created>
  <dcterms:modified xsi:type="dcterms:W3CDTF">2026-09-04T03:03:53Z</dcterms:modified>
</cp:coreProperties>
</file>