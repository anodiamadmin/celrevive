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14400213" cy="8999538"/>
  <p:notesSz cx="6858000" cy="9144000"/>
  <p:defaultTextStyle>
    <a:defPPr>
      <a:defRPr lang="en-US"/>
    </a:defPPr>
    <a:lvl1pPr marL="0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1pPr>
    <a:lvl2pPr marL="561579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2pPr>
    <a:lvl3pPr marL="1123158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3pPr>
    <a:lvl4pPr marL="1684736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4pPr>
    <a:lvl5pPr marL="2246315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5pPr>
    <a:lvl6pPr marL="2807894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6pPr>
    <a:lvl7pPr marL="3369473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7pPr>
    <a:lvl8pPr marL="3931051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8pPr>
    <a:lvl9pPr marL="4492630" algn="l" defTabSz="1123158" rtl="0" eaLnBrk="1" latinLnBrk="0" hangingPunct="1">
      <a:defRPr sz="221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BD5"/>
    <a:srgbClr val="FF7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465" y="-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0027" y="1472842"/>
            <a:ext cx="10800160" cy="3133172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4726842"/>
            <a:ext cx="10800160" cy="2172804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0297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9309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4" y="2243636"/>
            <a:ext cx="12420184" cy="37435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4" y="6022609"/>
            <a:ext cx="12420184" cy="1968648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77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395710"/>
            <a:ext cx="6120091" cy="57101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395710"/>
            <a:ext cx="6120091" cy="571012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9932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479143"/>
            <a:ext cx="12420184" cy="173949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1" y="2206137"/>
            <a:ext cx="6091965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1" y="3287331"/>
            <a:ext cx="6091965" cy="48351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8" y="2206137"/>
            <a:ext cx="6121966" cy="108119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8" y="3287331"/>
            <a:ext cx="6121966" cy="483516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565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0572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039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295767"/>
            <a:ext cx="7290108" cy="6395505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042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1" y="599969"/>
            <a:ext cx="4644443" cy="2099892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295767"/>
            <a:ext cx="7290108" cy="6395505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1" y="2699862"/>
            <a:ext cx="4644443" cy="5001827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866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2434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2" y="479142"/>
            <a:ext cx="3105046" cy="762669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479142"/>
            <a:ext cx="9135135" cy="762669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884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479143"/>
            <a:ext cx="12420184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395710"/>
            <a:ext cx="12420184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38E7F-C3BE-40FA-BE48-EB3019D14554}" type="datetimeFigureOut">
              <a:rPr lang="en-AU" smtClean="0"/>
              <a:t>25/08/2026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8341239"/>
            <a:ext cx="4860072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8341239"/>
            <a:ext cx="324004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DC524-B3EE-495C-B358-1D8FB81348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22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Shopify logo and symbol, meaning, history, PNG"/>
          <p:cNvSpPr>
            <a:spLocks noChangeAspect="1" noChangeArrowheads="1"/>
          </p:cNvSpPr>
          <p:nvPr/>
        </p:nvSpPr>
        <p:spPr bwMode="auto">
          <a:xfrm>
            <a:off x="183753" y="279082"/>
            <a:ext cx="360005" cy="360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8002" tIns="54001" rIns="108002" bIns="54001" numCol="1" anchor="t" anchorCtr="0" compatLnSpc="1">
            <a:prstTxWarp prst="textNoShape">
              <a:avLst/>
            </a:prstTxWarp>
          </a:bodyPr>
          <a:lstStyle/>
          <a:p>
            <a:endParaRPr lang="en-AU" sz="1654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9254489" y="4272151"/>
            <a:ext cx="898703" cy="252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51960" y="4216838"/>
            <a:ext cx="2768835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4" b="1" dirty="0"/>
              <a:t>Existing                       </a:t>
            </a:r>
            <a:r>
              <a:rPr lang="en-US" sz="1654" b="1" dirty="0" smtClean="0"/>
              <a:t>Frontend</a:t>
            </a:r>
            <a:endParaRPr lang="en-AU" sz="1654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173566" y="2465353"/>
            <a:ext cx="2736040" cy="346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54" dirty="0"/>
              <a:t>URL: https://celrevive.com/</a:t>
            </a:r>
            <a:endParaRPr lang="en-AU" sz="1654" dirty="0"/>
          </a:p>
        </p:txBody>
      </p:sp>
      <p:sp>
        <p:nvSpPr>
          <p:cNvPr id="11" name="TextBox 10"/>
          <p:cNvSpPr txBox="1"/>
          <p:nvPr/>
        </p:nvSpPr>
        <p:spPr>
          <a:xfrm>
            <a:off x="6799246" y="2150815"/>
            <a:ext cx="1173591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4" b="1" dirty="0"/>
              <a:t>DNS Server</a:t>
            </a:r>
            <a:endParaRPr lang="en-AU" sz="1654" b="1" dirty="0"/>
          </a:p>
        </p:txBody>
      </p:sp>
      <p:cxnSp>
        <p:nvCxnSpPr>
          <p:cNvPr id="13" name="Straight Arrow Connector 12"/>
          <p:cNvCxnSpPr>
            <a:stCxn id="4" idx="0"/>
            <a:endCxn id="9" idx="2"/>
          </p:cNvCxnSpPr>
          <p:nvPr/>
        </p:nvCxnSpPr>
        <p:spPr>
          <a:xfrm flipH="1" flipV="1">
            <a:off x="7541586" y="2812243"/>
            <a:ext cx="2237869" cy="1281583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23" idx="2"/>
          </p:cNvCxnSpPr>
          <p:nvPr/>
        </p:nvCxnSpPr>
        <p:spPr>
          <a:xfrm flipV="1">
            <a:off x="7469585" y="1304622"/>
            <a:ext cx="0" cy="87319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328" y="375677"/>
            <a:ext cx="1490514" cy="928945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60" b="29958"/>
          <a:stretch/>
        </p:blipFill>
        <p:spPr>
          <a:xfrm>
            <a:off x="7294828" y="621662"/>
            <a:ext cx="581732" cy="2973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58662" y="4563726"/>
            <a:ext cx="2942812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Authentication UI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User Profile UI (Partial)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Shopping Cart (UX Issues)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Create Order (UX Issues)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Purchase </a:t>
            </a:r>
            <a:r>
              <a:rPr lang="en-US" sz="1654" dirty="0" smtClean="0"/>
              <a:t>- Card </a:t>
            </a:r>
            <a:r>
              <a:rPr lang="en-US" sz="1654" dirty="0"/>
              <a:t>etc. </a:t>
            </a:r>
            <a:r>
              <a:rPr lang="en-US" sz="1654" dirty="0" smtClean="0"/>
              <a:t>(Issues</a:t>
            </a:r>
            <a:r>
              <a:rPr lang="en-US" sz="1654"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9590" y="4093826"/>
            <a:ext cx="2899730" cy="3157512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654"/>
          </a:p>
        </p:txBody>
      </p:sp>
      <p:sp>
        <p:nvSpPr>
          <p:cNvPr id="10" name="Rectangle 9"/>
          <p:cNvSpPr/>
          <p:nvPr/>
        </p:nvSpPr>
        <p:spPr>
          <a:xfrm>
            <a:off x="6162739" y="2177816"/>
            <a:ext cx="2613692" cy="685394"/>
          </a:xfrm>
          <a:prstGeom prst="rect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654"/>
          </a:p>
        </p:txBody>
      </p:sp>
      <p:sp>
        <p:nvSpPr>
          <p:cNvPr id="34" name="TextBox 33"/>
          <p:cNvSpPr txBox="1"/>
          <p:nvPr/>
        </p:nvSpPr>
        <p:spPr>
          <a:xfrm>
            <a:off x="11695507" y="4216836"/>
            <a:ext cx="2130007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4" b="1" dirty="0" smtClean="0"/>
              <a:t>API</a:t>
            </a:r>
            <a:r>
              <a:rPr lang="en-US" sz="1654" b="1" dirty="0"/>
              <a:t>/ Backend Services</a:t>
            </a:r>
            <a:endParaRPr lang="en-AU" sz="1654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11767661" y="4525046"/>
            <a:ext cx="2111964" cy="2637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err="1" smtClean="0"/>
              <a:t>Auth</a:t>
            </a:r>
            <a:r>
              <a:rPr lang="en-US" sz="1654" dirty="0" smtClean="0"/>
              <a:t> </a:t>
            </a:r>
            <a:r>
              <a:rPr lang="en-US" sz="1654" dirty="0"/>
              <a:t>Service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User Profile API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Shopping </a:t>
            </a:r>
            <a:r>
              <a:rPr lang="en-US" sz="1654" dirty="0" smtClean="0"/>
              <a:t>Cart</a:t>
            </a:r>
            <a:endParaRPr lang="en-US" sz="1654" dirty="0"/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Order Service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/>
              <a:t>Purchase API</a:t>
            </a:r>
          </a:p>
        </p:txBody>
      </p:sp>
      <p:sp>
        <p:nvSpPr>
          <p:cNvPr id="32" name="Flowchart: Magnetic Disk 31"/>
          <p:cNvSpPr/>
          <p:nvPr/>
        </p:nvSpPr>
        <p:spPr>
          <a:xfrm>
            <a:off x="11631501" y="3979718"/>
            <a:ext cx="2301160" cy="3243023"/>
          </a:xfrm>
          <a:prstGeom prst="flowChartMagneticDisk">
            <a:avLst/>
          </a:prstGeom>
          <a:solidFill>
            <a:schemeClr val="accent6">
              <a:lumMod val="60000"/>
              <a:lumOff val="40000"/>
              <a:alpha val="16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654"/>
          </a:p>
        </p:txBody>
      </p:sp>
      <p:sp>
        <p:nvSpPr>
          <p:cNvPr id="36" name="Left-Right Arrow 35"/>
          <p:cNvSpPr/>
          <p:nvPr/>
        </p:nvSpPr>
        <p:spPr>
          <a:xfrm>
            <a:off x="11032120" y="5440736"/>
            <a:ext cx="792537" cy="51971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611"/>
          </a:p>
        </p:txBody>
      </p:sp>
      <p:sp>
        <p:nvSpPr>
          <p:cNvPr id="48" name="TextBox 47"/>
          <p:cNvSpPr txBox="1"/>
          <p:nvPr/>
        </p:nvSpPr>
        <p:spPr>
          <a:xfrm>
            <a:off x="4733731" y="4242556"/>
            <a:ext cx="2331600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4" b="1" dirty="0" smtClean="0"/>
              <a:t>Frontend Enhancements</a:t>
            </a:r>
            <a:endParaRPr lang="en-AU" sz="1654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4740433" y="4589444"/>
            <a:ext cx="2942812" cy="3147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Questionnaire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User Image Analysis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Recommendation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Profile Detail Out (?)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Support &amp; Order Returns (?)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Fix Existing Issues (?)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23701" y="4152781"/>
            <a:ext cx="2899730" cy="3583677"/>
          </a:xfrm>
          <a:prstGeom prst="rect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654"/>
          </a:p>
        </p:txBody>
      </p:sp>
      <p:sp>
        <p:nvSpPr>
          <p:cNvPr id="51" name="TextBox 50"/>
          <p:cNvSpPr txBox="1"/>
          <p:nvPr/>
        </p:nvSpPr>
        <p:spPr>
          <a:xfrm>
            <a:off x="1000958" y="4242556"/>
            <a:ext cx="2790379" cy="3468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54" b="1" dirty="0" smtClean="0"/>
              <a:t>New/ Enhanced API/ Services</a:t>
            </a:r>
            <a:endParaRPr lang="en-AU" sz="1654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557639" y="4639154"/>
            <a:ext cx="3757186" cy="2892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AI Image Analysis Service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Recommendation Service</a:t>
            </a:r>
          </a:p>
          <a:p>
            <a:r>
              <a:rPr lang="en-US" sz="1654" dirty="0" smtClean="0"/>
              <a:t>        Image, Questionnaire &amp; Profile based</a:t>
            </a:r>
            <a:endParaRPr lang="en-US" sz="1654" dirty="0"/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AI Profile Analysis Service (?)</a:t>
            </a:r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Profile API (?)</a:t>
            </a:r>
            <a:endParaRPr lang="en-US" sz="1654" dirty="0"/>
          </a:p>
          <a:p>
            <a:pPr marL="337499" indent="-337499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654" dirty="0" smtClean="0"/>
              <a:t>Support &amp; Returns API (?)</a:t>
            </a:r>
            <a:endParaRPr lang="en-US" sz="1654" dirty="0"/>
          </a:p>
        </p:txBody>
      </p:sp>
      <p:sp>
        <p:nvSpPr>
          <p:cNvPr id="53" name="Flowchart: Magnetic Disk 52"/>
          <p:cNvSpPr/>
          <p:nvPr/>
        </p:nvSpPr>
        <p:spPr>
          <a:xfrm>
            <a:off x="436405" y="3726618"/>
            <a:ext cx="3878420" cy="4009841"/>
          </a:xfrm>
          <a:prstGeom prst="flowChartMagneticDisk">
            <a:avLst/>
          </a:prstGeom>
          <a:solidFill>
            <a:srgbClr val="FFC000">
              <a:alpha val="16000"/>
            </a:srgb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1654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7386041" y="5131897"/>
            <a:ext cx="1274480" cy="1220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7386041" y="5646142"/>
            <a:ext cx="1274480" cy="1220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7369178" y="6684268"/>
            <a:ext cx="1274480" cy="12204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719869" y="5944619"/>
            <a:ext cx="513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smtClean="0">
                <a:solidFill>
                  <a:srgbClr val="0070C0"/>
                </a:solidFill>
              </a:rPr>
              <a:t>…</a:t>
            </a:r>
            <a:endParaRPr lang="en-AU" b="1" dirty="0">
              <a:solidFill>
                <a:srgbClr val="0070C0"/>
              </a:solidFill>
            </a:endParaRPr>
          </a:p>
        </p:txBody>
      </p:sp>
      <p:sp>
        <p:nvSpPr>
          <p:cNvPr id="64" name="Left-Right Arrow 63"/>
          <p:cNvSpPr/>
          <p:nvPr/>
        </p:nvSpPr>
        <p:spPr>
          <a:xfrm>
            <a:off x="4122995" y="5960454"/>
            <a:ext cx="792537" cy="51971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2" tIns="54001" rIns="108002" bIns="5400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AU" sz="2611"/>
          </a:p>
        </p:txBody>
      </p:sp>
    </p:spTree>
    <p:extLst>
      <p:ext uri="{BB962C8B-B14F-4D97-AF65-F5344CB8AC3E}">
        <p14:creationId xmlns:p14="http://schemas.microsoft.com/office/powerpoint/2010/main" val="540204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500" y="266700"/>
            <a:ext cx="10744200" cy="76009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4" name="Group 13"/>
          <p:cNvGrpSpPr/>
          <p:nvPr/>
        </p:nvGrpSpPr>
        <p:grpSpPr>
          <a:xfrm>
            <a:off x="509588" y="1209675"/>
            <a:ext cx="395288" cy="523875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722182" y="461964"/>
            <a:ext cx="552450" cy="20478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554581" y="1347401"/>
            <a:ext cx="5836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</a:t>
            </a:r>
            <a:r>
              <a:rPr lang="en-US" sz="1200" dirty="0" smtClean="0"/>
              <a:t>OGIN</a:t>
            </a:r>
            <a:endParaRPr lang="en-AU" sz="12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160" y="5901345"/>
            <a:ext cx="1759620" cy="175962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3629" y="6287488"/>
            <a:ext cx="1140105" cy="11401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12152614" y="6052880"/>
            <a:ext cx="793513" cy="88700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072978" y="587002"/>
            <a:ext cx="2816480" cy="2009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0" name="Group 19"/>
          <p:cNvGrpSpPr/>
          <p:nvPr/>
        </p:nvGrpSpPr>
        <p:grpSpPr>
          <a:xfrm>
            <a:off x="3196589" y="1140839"/>
            <a:ext cx="568104" cy="690121"/>
            <a:chOff x="3337214" y="1450230"/>
            <a:chExt cx="568104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37214" y="1863352"/>
              <a:ext cx="5681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Image</a:t>
              </a:r>
              <a:endParaRPr lang="en-AU" sz="1200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4032764" y="1140839"/>
            <a:ext cx="1091687" cy="690121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Questionnaire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2961895">
            <a:off x="4411449" y="3721509"/>
            <a:ext cx="8335650" cy="4771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/>
          <p:cNvSpPr/>
          <p:nvPr/>
        </p:nvSpPr>
        <p:spPr>
          <a:xfrm>
            <a:off x="7066465" y="3285346"/>
            <a:ext cx="1953710" cy="486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 smtClean="0">
                <a:solidFill>
                  <a:schemeClr val="tx1"/>
                </a:solidFill>
              </a:rPr>
              <a:t>Concatenate 2 or 3 answers to questionnaire questions</a:t>
            </a:r>
            <a:endParaRPr lang="en-AU" sz="1200" dirty="0">
              <a:solidFill>
                <a:schemeClr val="tx1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11151646" y="5395834"/>
            <a:ext cx="2047875" cy="505511"/>
            <a:chOff x="4200525" y="2438400"/>
            <a:chExt cx="2047875" cy="2892268"/>
          </a:xfrm>
        </p:grpSpPr>
        <p:sp>
          <p:nvSpPr>
            <p:cNvPr id="27" name="Folded Corner 26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285895" y="2617109"/>
              <a:ext cx="1951496" cy="5601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All Skin Concerns:</a:t>
              </a:r>
            </a:p>
            <a:p>
              <a:r>
                <a:rPr lang="en-US" sz="1200" dirty="0" smtClean="0"/>
                <a:t>Serum + Vitamin C + 8 hours</a:t>
              </a:r>
            </a:p>
          </p:txBody>
        </p:sp>
      </p:grpSp>
      <p:pic>
        <p:nvPicPr>
          <p:cNvPr id="32" name="Picture 31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2" b="26164"/>
          <a:stretch/>
        </p:blipFill>
        <p:spPr>
          <a:xfrm>
            <a:off x="7751114" y="665780"/>
            <a:ext cx="1655279" cy="35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8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2533650" y="209550"/>
            <a:ext cx="11068050" cy="7600950"/>
            <a:chOff x="942975" y="419100"/>
            <a:chExt cx="4981575" cy="7600950"/>
          </a:xfrm>
        </p:grpSpPr>
        <p:sp>
          <p:nvSpPr>
            <p:cNvPr id="2" name="Rectangle 1"/>
            <p:cNvSpPr/>
            <p:nvPr/>
          </p:nvSpPr>
          <p:spPr>
            <a:xfrm>
              <a:off x="942975" y="419100"/>
              <a:ext cx="4981575" cy="760095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812" b="26164"/>
            <a:stretch/>
          </p:blipFill>
          <p:spPr>
            <a:xfrm>
              <a:off x="3291283" y="875330"/>
              <a:ext cx="745018" cy="356555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509588" y="1209675"/>
            <a:ext cx="395288" cy="523875"/>
            <a:chOff x="8634412" y="1219200"/>
            <a:chExt cx="676275" cy="933450"/>
          </a:xfrm>
        </p:grpSpPr>
        <p:sp>
          <p:nvSpPr>
            <p:cNvPr id="5" name="Smiley Face 4"/>
            <p:cNvSpPr/>
            <p:nvPr/>
          </p:nvSpPr>
          <p:spPr>
            <a:xfrm>
              <a:off x="8753475" y="1219200"/>
              <a:ext cx="438150" cy="428625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Snip Same Side Corner Rectangle 11"/>
            <p:cNvSpPr/>
            <p:nvPr/>
          </p:nvSpPr>
          <p:spPr>
            <a:xfrm>
              <a:off x="8634412" y="1647825"/>
              <a:ext cx="676275" cy="50482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5" name="Down Arrow 14"/>
          <p:cNvSpPr/>
          <p:nvPr/>
        </p:nvSpPr>
        <p:spPr>
          <a:xfrm rot="16200000">
            <a:off x="1722182" y="461964"/>
            <a:ext cx="552450" cy="20478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554581" y="1347401"/>
            <a:ext cx="5836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</a:t>
            </a:r>
            <a:r>
              <a:rPr lang="en-US" sz="1200" dirty="0" smtClean="0"/>
              <a:t>OGIN</a:t>
            </a:r>
            <a:endParaRPr lang="en-AU" sz="12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160" y="5901345"/>
            <a:ext cx="1759620" cy="175962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3629" y="6287488"/>
            <a:ext cx="1140105" cy="1140105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45969">
            <a:off x="12152614" y="6052880"/>
            <a:ext cx="793513" cy="887002"/>
          </a:xfrm>
          <a:prstGeom prst="rect">
            <a:avLst/>
          </a:prstGeom>
        </p:spPr>
      </p:pic>
      <p:grpSp>
        <p:nvGrpSpPr>
          <p:cNvPr id="37" name="Group 36"/>
          <p:cNvGrpSpPr/>
          <p:nvPr/>
        </p:nvGrpSpPr>
        <p:grpSpPr>
          <a:xfrm>
            <a:off x="8048433" y="5103712"/>
            <a:ext cx="2047875" cy="2404365"/>
            <a:chOff x="4200525" y="2413236"/>
            <a:chExt cx="2047875" cy="2917432"/>
          </a:xfrm>
        </p:grpSpPr>
        <p:sp>
          <p:nvSpPr>
            <p:cNvPr id="33" name="Folded Corner 32"/>
            <p:cNvSpPr/>
            <p:nvPr/>
          </p:nvSpPr>
          <p:spPr>
            <a:xfrm>
              <a:off x="4200525" y="2438400"/>
              <a:ext cx="2047875" cy="2892268"/>
            </a:xfrm>
            <a:prstGeom prst="foldedCorner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414067" y="2413236"/>
              <a:ext cx="1755865" cy="24929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All Skin Concerns: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 smtClean="0"/>
                <a:t>SC00x + SC10y + …</a:t>
              </a:r>
            </a:p>
            <a:p>
              <a:endParaRPr lang="en-US" sz="1200" dirty="0"/>
            </a:p>
            <a:p>
              <a:r>
                <a:rPr lang="en-US" sz="1200" dirty="0" smtClean="0"/>
                <a:t>Actives: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 smtClean="0"/>
                <a:t>Active a + Active b + …</a:t>
              </a:r>
            </a:p>
            <a:p>
              <a:r>
                <a:rPr lang="en-US" sz="1200" dirty="0" smtClean="0"/>
                <a:t>Base: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 smtClean="0"/>
                <a:t>Base n</a:t>
              </a:r>
            </a:p>
            <a:p>
              <a:endParaRPr lang="en-US" sz="1200" dirty="0" smtClean="0"/>
            </a:p>
            <a:p>
              <a:r>
                <a:rPr lang="en-US" sz="1200" dirty="0" smtClean="0"/>
                <a:t>AI Explanation:</a:t>
              </a:r>
              <a:endParaRPr lang="en-US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200" dirty="0" smtClean="0"/>
                <a:t>Summation of </a:t>
              </a:r>
            </a:p>
            <a:p>
              <a:r>
                <a:rPr lang="en-US" sz="1200" dirty="0"/>
                <a:t> </a:t>
              </a:r>
              <a:r>
                <a:rPr lang="en-US" sz="1200" dirty="0" smtClean="0"/>
                <a:t>    AI Explanation Texts</a:t>
              </a:r>
            </a:p>
            <a:p>
              <a:endParaRPr lang="en-US" sz="1200" dirty="0"/>
            </a:p>
            <a:p>
              <a:r>
                <a:rPr lang="en-US" sz="1200" strike="sngStrike" dirty="0" smtClean="0"/>
                <a:t>Price: $20</a:t>
              </a:r>
              <a:endParaRPr lang="en-AU" sz="1200" strike="sngStrike" dirty="0"/>
            </a:p>
          </p:txBody>
        </p:sp>
      </p:grpSp>
      <p:sp>
        <p:nvSpPr>
          <p:cNvPr id="41" name="Rectangle 40"/>
          <p:cNvSpPr/>
          <p:nvPr/>
        </p:nvSpPr>
        <p:spPr>
          <a:xfrm>
            <a:off x="3072978" y="932843"/>
            <a:ext cx="2489622" cy="11281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0" name="Group 19"/>
          <p:cNvGrpSpPr/>
          <p:nvPr/>
        </p:nvGrpSpPr>
        <p:grpSpPr>
          <a:xfrm>
            <a:off x="3196589" y="1140839"/>
            <a:ext cx="568104" cy="690121"/>
            <a:chOff x="3337214" y="1450230"/>
            <a:chExt cx="568104" cy="690121"/>
          </a:xfrm>
        </p:grpSpPr>
        <p:sp>
          <p:nvSpPr>
            <p:cNvPr id="17" name="Frame 16"/>
            <p:cNvSpPr/>
            <p:nvPr/>
          </p:nvSpPr>
          <p:spPr>
            <a:xfrm>
              <a:off x="3337214" y="1450230"/>
              <a:ext cx="568104" cy="690121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solidFill>
                  <a:schemeClr val="tx1"/>
                </a:solidFill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3476950" y="1577604"/>
              <a:ext cx="276225" cy="295273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337214" y="1863352"/>
              <a:ext cx="5681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Image</a:t>
              </a:r>
              <a:endParaRPr lang="en-AU" sz="1200" dirty="0"/>
            </a:p>
          </p:txBody>
        </p:sp>
      </p:grpSp>
      <p:sp>
        <p:nvSpPr>
          <p:cNvPr id="22" name="Folded Corner 21"/>
          <p:cNvSpPr/>
          <p:nvPr/>
        </p:nvSpPr>
        <p:spPr>
          <a:xfrm>
            <a:off x="4242224" y="1140839"/>
            <a:ext cx="1091687" cy="690121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Questionnaire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40" name="Left Arrow 39"/>
          <p:cNvSpPr/>
          <p:nvPr/>
        </p:nvSpPr>
        <p:spPr>
          <a:xfrm rot="16200000">
            <a:off x="3261664" y="1884193"/>
            <a:ext cx="445570" cy="3756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42" name="Rounded Rectangle 41"/>
          <p:cNvSpPr/>
          <p:nvPr/>
        </p:nvSpPr>
        <p:spPr>
          <a:xfrm>
            <a:off x="3071132" y="2289324"/>
            <a:ext cx="882905" cy="2995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Visual AI</a:t>
            </a:r>
            <a:endParaRPr lang="en-AU" sz="1200" dirty="0"/>
          </a:p>
        </p:txBody>
      </p:sp>
      <p:sp>
        <p:nvSpPr>
          <p:cNvPr id="58" name="Left Arrow 57"/>
          <p:cNvSpPr/>
          <p:nvPr/>
        </p:nvSpPr>
        <p:spPr>
          <a:xfrm rot="16200000">
            <a:off x="3282948" y="2605791"/>
            <a:ext cx="430348" cy="42262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 42"/>
          <p:cNvSpPr/>
          <p:nvPr/>
        </p:nvSpPr>
        <p:spPr>
          <a:xfrm>
            <a:off x="2752726" y="3009898"/>
            <a:ext cx="1635195" cy="497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Visual Skin Concerns</a:t>
            </a:r>
          </a:p>
          <a:p>
            <a:r>
              <a:rPr lang="en-US" sz="1200" dirty="0" smtClean="0">
                <a:solidFill>
                  <a:schemeClr val="tx1"/>
                </a:solidFill>
              </a:rPr>
              <a:t>     + AI Explanations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59" name="Left Arrow 58"/>
          <p:cNvSpPr/>
          <p:nvPr/>
        </p:nvSpPr>
        <p:spPr>
          <a:xfrm rot="16200000">
            <a:off x="3922575" y="2665979"/>
            <a:ext cx="2076796" cy="40675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47" name="Group 46"/>
          <p:cNvGrpSpPr/>
          <p:nvPr/>
        </p:nvGrpSpPr>
        <p:grpSpPr>
          <a:xfrm>
            <a:off x="3852739" y="4794640"/>
            <a:ext cx="3096015" cy="535396"/>
            <a:chOff x="2951322" y="3685146"/>
            <a:chExt cx="3096015" cy="535396"/>
          </a:xfrm>
        </p:grpSpPr>
        <p:sp>
          <p:nvSpPr>
            <p:cNvPr id="60" name="Rounded Rectangle 59"/>
            <p:cNvSpPr/>
            <p:nvPr/>
          </p:nvSpPr>
          <p:spPr>
            <a:xfrm>
              <a:off x="2951322" y="3690688"/>
              <a:ext cx="2425306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/>
                <a:t>  LLM    .  </a:t>
              </a:r>
              <a:endParaRPr lang="en-AU" sz="1200" dirty="0"/>
            </a:p>
          </p:txBody>
        </p:sp>
        <p:sp>
          <p:nvSpPr>
            <p:cNvPr id="68" name="Left Arrow 67"/>
            <p:cNvSpPr/>
            <p:nvPr/>
          </p:nvSpPr>
          <p:spPr>
            <a:xfrm>
              <a:off x="5040693" y="3718773"/>
              <a:ext cx="472314" cy="426053"/>
            </a:xfrm>
            <a:prstGeom prst="leftArrow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5383997" y="3685146"/>
              <a:ext cx="663340" cy="52985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 smtClean="0"/>
                <a:t>CelRev</a:t>
              </a:r>
              <a:endParaRPr lang="en-US" sz="1200" dirty="0" smtClean="0"/>
            </a:p>
            <a:p>
              <a:pPr algn="ctr"/>
              <a:r>
                <a:rPr lang="en-US" sz="1200" dirty="0" smtClean="0"/>
                <a:t>RAG</a:t>
              </a:r>
              <a:endParaRPr lang="en-AU" sz="1200" dirty="0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3322925" y="1762127"/>
            <a:ext cx="341094" cy="43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A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337209" y="2584825"/>
            <a:ext cx="328936" cy="43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A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Left Arrow 85"/>
          <p:cNvSpPr/>
          <p:nvPr/>
        </p:nvSpPr>
        <p:spPr>
          <a:xfrm rot="16200000">
            <a:off x="3351907" y="3462318"/>
            <a:ext cx="430348" cy="42262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0" name="Rectangle 89"/>
          <p:cNvSpPr/>
          <p:nvPr/>
        </p:nvSpPr>
        <p:spPr>
          <a:xfrm>
            <a:off x="3978590" y="5745067"/>
            <a:ext cx="2584135" cy="951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All Skin Concerns + </a:t>
            </a:r>
            <a:r>
              <a:rPr lang="en-US" sz="1200" dirty="0">
                <a:solidFill>
                  <a:schemeClr val="tx1"/>
                </a:solidFill>
              </a:rPr>
              <a:t>AI Explanations</a:t>
            </a:r>
            <a:endParaRPr lang="en-US" sz="1200" dirty="0" smtClean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List of bases + </a:t>
            </a:r>
            <a:r>
              <a:rPr lang="en-US" sz="1200" dirty="0">
                <a:solidFill>
                  <a:schemeClr val="tx1"/>
                </a:solidFill>
              </a:rPr>
              <a:t>AI Explanations</a:t>
            </a:r>
            <a:endParaRPr lang="en-US" sz="1200" dirty="0" smtClean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Actives + </a:t>
            </a:r>
            <a:r>
              <a:rPr lang="en-US" sz="1200" dirty="0">
                <a:solidFill>
                  <a:schemeClr val="tx1"/>
                </a:solidFill>
              </a:rPr>
              <a:t>AI Explanations</a:t>
            </a:r>
            <a:endParaRPr lang="en-US" sz="1200" dirty="0" smtClean="0">
              <a:solidFill>
                <a:schemeClr val="tx1"/>
              </a:solidFill>
            </a:endParaRPr>
          </a:p>
          <a:p>
            <a:pPr marL="733029" lvl="1" indent="-171450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tx1"/>
                </a:solidFill>
              </a:rPr>
              <a:t>compatible to </a:t>
            </a:r>
            <a:r>
              <a:rPr lang="en-US" sz="1200" dirty="0" smtClean="0">
                <a:solidFill>
                  <a:schemeClr val="tx1"/>
                </a:solidFill>
              </a:rPr>
              <a:t>bases</a:t>
            </a:r>
          </a:p>
          <a:p>
            <a:pPr marL="733029" lvl="1" indent="-171450">
              <a:buFont typeface="Courier New" panose="02070309020205020404" pitchFamily="49" charset="0"/>
              <a:buChar char="o"/>
            </a:pPr>
            <a:r>
              <a:rPr lang="en-US" sz="1200" dirty="0" smtClean="0">
                <a:solidFill>
                  <a:schemeClr val="tx1"/>
                </a:solidFill>
              </a:rPr>
              <a:t>effective for skin concerns</a:t>
            </a:r>
          </a:p>
        </p:txBody>
      </p:sp>
      <p:sp>
        <p:nvSpPr>
          <p:cNvPr id="91" name="Left Arrow 90"/>
          <p:cNvSpPr/>
          <p:nvPr/>
        </p:nvSpPr>
        <p:spPr>
          <a:xfrm rot="16200000">
            <a:off x="3902709" y="5156511"/>
            <a:ext cx="710222" cy="4184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2" name="TextBox 91"/>
          <p:cNvSpPr txBox="1"/>
          <p:nvPr/>
        </p:nvSpPr>
        <p:spPr>
          <a:xfrm>
            <a:off x="4096182" y="5284024"/>
            <a:ext cx="328936" cy="43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A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" name="Half Frame 53"/>
          <p:cNvSpPr/>
          <p:nvPr/>
        </p:nvSpPr>
        <p:spPr>
          <a:xfrm rot="13475004">
            <a:off x="3703562" y="3203754"/>
            <a:ext cx="1143856" cy="1155749"/>
          </a:xfrm>
          <a:prstGeom prst="halfFrame">
            <a:avLst>
              <a:gd name="adj1" fmla="val 11711"/>
              <a:gd name="adj2" fmla="val 135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7" name="Left Arrow 96"/>
          <p:cNvSpPr/>
          <p:nvPr/>
        </p:nvSpPr>
        <p:spPr>
          <a:xfrm rot="16200000">
            <a:off x="3953398" y="4453177"/>
            <a:ext cx="630072" cy="46489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8" name="TextBox 97"/>
          <p:cNvSpPr txBox="1"/>
          <p:nvPr/>
        </p:nvSpPr>
        <p:spPr>
          <a:xfrm>
            <a:off x="4096182" y="4396193"/>
            <a:ext cx="359325" cy="43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A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Left Arrow 98"/>
          <p:cNvSpPr/>
          <p:nvPr/>
        </p:nvSpPr>
        <p:spPr>
          <a:xfrm rot="10800000">
            <a:off x="6562725" y="5936671"/>
            <a:ext cx="1560327" cy="40675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0" name="TextBox 99"/>
          <p:cNvSpPr txBox="1"/>
          <p:nvPr/>
        </p:nvSpPr>
        <p:spPr>
          <a:xfrm>
            <a:off x="6877996" y="6001548"/>
            <a:ext cx="8714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Formatting</a:t>
            </a:r>
            <a:endParaRPr lang="en-AU" sz="1200" dirty="0"/>
          </a:p>
        </p:txBody>
      </p:sp>
      <p:sp>
        <p:nvSpPr>
          <p:cNvPr id="101" name="Left Arrow 100"/>
          <p:cNvSpPr/>
          <p:nvPr/>
        </p:nvSpPr>
        <p:spPr>
          <a:xfrm rot="10800000">
            <a:off x="10110278" y="5922220"/>
            <a:ext cx="2263350" cy="42120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2" name="TextBox 101"/>
          <p:cNvSpPr txBox="1"/>
          <p:nvPr/>
        </p:nvSpPr>
        <p:spPr>
          <a:xfrm>
            <a:off x="10227906" y="5992495"/>
            <a:ext cx="19137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To check out/ shopping cart</a:t>
            </a:r>
            <a:endParaRPr lang="en-AU" sz="1200" dirty="0"/>
          </a:p>
        </p:txBody>
      </p:sp>
      <p:sp>
        <p:nvSpPr>
          <p:cNvPr id="103" name="TextBox 102"/>
          <p:cNvSpPr txBox="1"/>
          <p:nvPr/>
        </p:nvSpPr>
        <p:spPr>
          <a:xfrm>
            <a:off x="7123841" y="5707493"/>
            <a:ext cx="328936" cy="43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en-A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1169050" y="5685068"/>
            <a:ext cx="328936" cy="432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endParaRPr lang="en-A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4568009" y="2428096"/>
            <a:ext cx="945209" cy="2698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tx1"/>
                </a:solidFill>
              </a:rPr>
              <a:t>Answers</a:t>
            </a:r>
            <a:endParaRPr lang="en-AU" sz="1200" dirty="0">
              <a:solidFill>
                <a:schemeClr val="tx1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81678" y="169078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User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790264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</TotalTime>
  <Words>218</Words>
  <Application>Microsoft Office PowerPoint</Application>
  <PresentationFormat>Custom</PresentationFormat>
  <Paragraphs>72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21</cp:revision>
  <dcterms:created xsi:type="dcterms:W3CDTF">2026-05-28T06:49:50Z</dcterms:created>
  <dcterms:modified xsi:type="dcterms:W3CDTF">2026-08-25T08:15:32Z</dcterms:modified>
</cp:coreProperties>
</file>