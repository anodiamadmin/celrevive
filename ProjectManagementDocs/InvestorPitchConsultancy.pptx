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E8AD7-3A56-42D2-87B1-90630FB1BB8A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770B5-7D8D-4D38-80A6-440035530A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04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1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18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11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462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24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07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91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834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615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54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762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80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133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01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24133-46F8-4505-81FC-78E5C153E9FB}" type="datetimeFigureOut">
              <a:rPr lang="en-AU" smtClean="0"/>
              <a:t>3/08/2026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65F4-5899-44F3-BD8B-EA42BBF69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21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NUL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70337" y="952500"/>
            <a:ext cx="4913086" cy="5189049"/>
          </a:xfrm>
          <a:prstGeom prst="rect">
            <a:avLst/>
          </a:prstGeom>
          <a:solidFill>
            <a:schemeClr val="accent6">
              <a:lumMod val="20000"/>
              <a:lumOff val="80000"/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Flowchart: Magnetic Disk 31"/>
          <p:cNvSpPr/>
          <p:nvPr/>
        </p:nvSpPr>
        <p:spPr>
          <a:xfrm>
            <a:off x="9450124" y="3141818"/>
            <a:ext cx="1977215" cy="2921306"/>
          </a:xfrm>
          <a:prstGeom prst="flowChartMagneticDisk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4" name="Rectangle 3"/>
          <p:cNvSpPr/>
          <p:nvPr/>
        </p:nvSpPr>
        <p:spPr>
          <a:xfrm>
            <a:off x="6956711" y="3287295"/>
            <a:ext cx="2289464" cy="2496286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 dirty="0"/>
          </a:p>
        </p:txBody>
      </p:sp>
      <p:sp>
        <p:nvSpPr>
          <p:cNvPr id="33" name="Rectangle 32"/>
          <p:cNvSpPr/>
          <p:nvPr/>
        </p:nvSpPr>
        <p:spPr>
          <a:xfrm>
            <a:off x="807720" y="1453414"/>
            <a:ext cx="5764544" cy="5091995"/>
          </a:xfrm>
          <a:prstGeom prst="rect">
            <a:avLst/>
          </a:prstGeom>
          <a:solidFill>
            <a:schemeClr val="accent4">
              <a:lumMod val="20000"/>
              <a:lumOff val="80000"/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Flowchart: Magnetic Disk 52"/>
          <p:cNvSpPr/>
          <p:nvPr/>
        </p:nvSpPr>
        <p:spPr>
          <a:xfrm>
            <a:off x="941794" y="3007468"/>
            <a:ext cx="3119665" cy="3537941"/>
          </a:xfrm>
          <a:prstGeom prst="flowChartMagneticDisk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50" name="Rectangle 49"/>
          <p:cNvSpPr/>
          <p:nvPr/>
        </p:nvSpPr>
        <p:spPr>
          <a:xfrm>
            <a:off x="4208882" y="3332222"/>
            <a:ext cx="2329804" cy="2451359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7661521" y="3423186"/>
            <a:ext cx="684847" cy="1927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73758" y="3381035"/>
            <a:ext cx="2157129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Existing                       Frontend</a:t>
            </a:r>
            <a:endParaRPr lang="en-AU" sz="126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978555" y="2610881"/>
            <a:ext cx="208497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0" dirty="0"/>
              <a:t>URL: https://celrevive.com/</a:t>
            </a:r>
            <a:endParaRPr lang="en-AU" sz="1260" dirty="0"/>
          </a:p>
        </p:txBody>
      </p:sp>
      <p:sp>
        <p:nvSpPr>
          <p:cNvPr id="11" name="TextBox 10"/>
          <p:cNvSpPr txBox="1"/>
          <p:nvPr/>
        </p:nvSpPr>
        <p:spPr>
          <a:xfrm>
            <a:off x="7455348" y="2371191"/>
            <a:ext cx="93961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DNS Server</a:t>
            </a:r>
            <a:endParaRPr lang="en-AU" sz="1260" b="1" dirty="0"/>
          </a:p>
        </p:txBody>
      </p:sp>
      <p:cxnSp>
        <p:nvCxnSpPr>
          <p:cNvPr id="13" name="Straight Arrow Connector 12"/>
          <p:cNvCxnSpPr>
            <a:stCxn id="4" idx="0"/>
            <a:endCxn id="9" idx="2"/>
          </p:cNvCxnSpPr>
          <p:nvPr/>
        </p:nvCxnSpPr>
        <p:spPr>
          <a:xfrm flipH="1" flipV="1">
            <a:off x="8021040" y="2897113"/>
            <a:ext cx="80403" cy="390182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23" idx="2"/>
          </p:cNvCxnSpPr>
          <p:nvPr/>
        </p:nvCxnSpPr>
        <p:spPr>
          <a:xfrm flipV="1">
            <a:off x="7966173" y="1726359"/>
            <a:ext cx="0" cy="6654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258" y="1018467"/>
            <a:ext cx="1135830" cy="70789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29958"/>
          <a:stretch/>
        </p:blipFill>
        <p:spPr>
          <a:xfrm>
            <a:off x="7833001" y="1205917"/>
            <a:ext cx="443303" cy="226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78864" y="3645378"/>
            <a:ext cx="24357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Authentication UI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UI (Partial)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Create Order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- Card etc. (Issues)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70305" y="2391767"/>
            <a:ext cx="1991736" cy="52229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4" name="TextBox 33"/>
          <p:cNvSpPr txBox="1"/>
          <p:nvPr/>
        </p:nvSpPr>
        <p:spPr>
          <a:xfrm>
            <a:off x="9521672" y="3381034"/>
            <a:ext cx="1669240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API/ Backend Services</a:t>
            </a:r>
            <a:endParaRPr lang="en-AU" sz="126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9576656" y="3949727"/>
            <a:ext cx="2080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Authentication </a:t>
            </a:r>
            <a:r>
              <a:rPr lang="en-US" sz="1260" dirty="0"/>
              <a:t>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API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Order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API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9016145" y="4313694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  <p:sp>
        <p:nvSpPr>
          <p:cNvPr id="48" name="TextBox 47"/>
          <p:cNvSpPr txBox="1"/>
          <p:nvPr/>
        </p:nvSpPr>
        <p:spPr>
          <a:xfrm>
            <a:off x="4216526" y="3400634"/>
            <a:ext cx="18176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Frontend Enhancements</a:t>
            </a:r>
            <a:endParaRPr lang="en-AU" sz="126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427373" y="3664976"/>
            <a:ext cx="19599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Questionnaire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Image Analysis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User Profile Detail</a:t>
            </a:r>
            <a:endParaRPr lang="en-US" sz="1260" dirty="0"/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Fix </a:t>
            </a:r>
            <a:r>
              <a:rPr lang="en-US" sz="1260" dirty="0"/>
              <a:t>Existing </a:t>
            </a:r>
            <a:r>
              <a:rPr lang="en-US" sz="1260" dirty="0" smtClean="0"/>
              <a:t>Issues</a:t>
            </a:r>
            <a:endParaRPr lang="en-US" sz="1260" dirty="0"/>
          </a:p>
        </p:txBody>
      </p:sp>
      <p:sp>
        <p:nvSpPr>
          <p:cNvPr id="51" name="TextBox 50"/>
          <p:cNvSpPr txBox="1"/>
          <p:nvPr/>
        </p:nvSpPr>
        <p:spPr>
          <a:xfrm>
            <a:off x="1372007" y="3400634"/>
            <a:ext cx="2169825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New/ Enhanced API/ Services</a:t>
            </a:r>
            <a:endParaRPr lang="en-AU" sz="126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164803" y="4007655"/>
            <a:ext cx="3174904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Product Database (Ingredients </a:t>
            </a:r>
          </a:p>
          <a:p>
            <a:r>
              <a:rPr lang="en-US" sz="1260" dirty="0" smtClean="0"/>
              <a:t>       + Base + Compatibility engine)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AI </a:t>
            </a:r>
            <a:r>
              <a:rPr lang="en-US" sz="1260" dirty="0"/>
              <a:t>Image Analysis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AI </a:t>
            </a:r>
            <a:r>
              <a:rPr lang="en-US" sz="1260" dirty="0"/>
              <a:t>Profile Analysis </a:t>
            </a:r>
            <a:r>
              <a:rPr lang="en-US" sz="1260" dirty="0" smtClean="0"/>
              <a:t>Service</a:t>
            </a:r>
            <a:endParaRPr lang="en-US" sz="1260" dirty="0"/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Recommendation Service</a:t>
            </a:r>
          </a:p>
          <a:p>
            <a:r>
              <a:rPr lang="en-US" sz="1260" dirty="0" smtClean="0"/>
              <a:t>        Image, Questionnaire &amp; Profile based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smtClean="0"/>
              <a:t>Complete User Profile Backend API</a:t>
            </a:r>
            <a:endParaRPr lang="en-US" sz="1260" dirty="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6237690" y="4078346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6237690" y="4470221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224839" y="5261314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92080" y="4697672"/>
            <a:ext cx="434734" cy="51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43" b="1" dirty="0">
                <a:solidFill>
                  <a:srgbClr val="0070C0"/>
                </a:solidFill>
              </a:rPr>
              <a:t>…</a:t>
            </a:r>
            <a:endParaRPr lang="en-AU" sz="1372" b="1" dirty="0">
              <a:solidFill>
                <a:srgbClr val="0070C0"/>
              </a:solidFill>
            </a:endParaRPr>
          </a:p>
        </p:txBody>
      </p:sp>
      <p:sp>
        <p:nvSpPr>
          <p:cNvPr id="64" name="Left-Right Arrow 63"/>
          <p:cNvSpPr/>
          <p:nvPr/>
        </p:nvSpPr>
        <p:spPr>
          <a:xfrm>
            <a:off x="3827316" y="4245281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  <p:sp>
        <p:nvSpPr>
          <p:cNvPr id="12" name="TextBox 11"/>
          <p:cNvSpPr txBox="1"/>
          <p:nvPr/>
        </p:nvSpPr>
        <p:spPr>
          <a:xfrm>
            <a:off x="7455348" y="586740"/>
            <a:ext cx="201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Existing Application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1039308" y="1085612"/>
            <a:ext cx="3456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Immediate Planned Enhancements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026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EC0CD5E-1E5C-408D-E278-5A1626967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89" y="81023"/>
            <a:ext cx="10740615" cy="35794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4E87B8B3-0A7A-14FF-6730-A5CED0462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102" y="3429000"/>
            <a:ext cx="7990390" cy="32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2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1181" y="96012"/>
            <a:ext cx="5349239" cy="4729542"/>
          </a:xfrm>
          <a:prstGeom prst="roundRect">
            <a:avLst>
              <a:gd name="adj" fmla="val 2087"/>
            </a:avLst>
          </a:prstGeom>
          <a:solidFill>
            <a:srgbClr val="F7F7F5"/>
          </a:solidFill>
          <a:ln w="12700">
            <a:solidFill>
              <a:srgbClr val="E4E2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13932" y="96012"/>
            <a:ext cx="5349240" cy="5257800"/>
          </a:xfrm>
          <a:prstGeom prst="roundRect">
            <a:avLst>
              <a:gd name="adj" fmla="val 2087"/>
            </a:avLst>
          </a:prstGeom>
          <a:solidFill>
            <a:srgbClr val="FCF6E9"/>
          </a:solidFill>
          <a:ln w="12700">
            <a:solidFill>
              <a:srgbClr val="F2E4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1817" y="189408"/>
            <a:ext cx="1334011" cy="350283"/>
          </a:xfrm>
          <a:prstGeom prst="roundRect">
            <a:avLst>
              <a:gd name="adj" fmla="val 50000"/>
            </a:avLst>
          </a:prstGeom>
          <a:solidFill>
            <a:srgbClr val="888780"/>
          </a:solidFill>
          <a:ln/>
        </p:spPr>
      </p:sp>
      <p:sp>
        <p:nvSpPr>
          <p:cNvPr id="7" name="Text 5"/>
          <p:cNvSpPr/>
          <p:nvPr/>
        </p:nvSpPr>
        <p:spPr>
          <a:xfrm>
            <a:off x="510700" y="164166"/>
            <a:ext cx="1334011" cy="350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8252" y="324612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</p:sp>
      <p:sp>
        <p:nvSpPr>
          <p:cNvPr id="9" name="Text 7"/>
          <p:cNvSpPr/>
          <p:nvPr/>
        </p:nvSpPr>
        <p:spPr>
          <a:xfrm>
            <a:off x="6588252" y="3246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05289" y="278880"/>
            <a:ext cx="1778679" cy="450363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20704" y="310229"/>
            <a:ext cx="1778681" cy="4170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2626" y="767429"/>
            <a:ext cx="0" cy="23352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97722" y="1023461"/>
            <a:ext cx="2223351" cy="458704"/>
          </a:xfrm>
          <a:prstGeom prst="roundRect">
            <a:avLst>
              <a:gd name="adj" fmla="val 14545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97722" y="1023461"/>
            <a:ext cx="2223351" cy="458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celrevive.com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2626" y="1526381"/>
            <a:ext cx="0" cy="23352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28781" y="1782413"/>
            <a:ext cx="3557362" cy="625506"/>
          </a:xfrm>
          <a:prstGeom prst="roundRect">
            <a:avLst>
              <a:gd name="adj" fmla="val 10667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8781" y="1782413"/>
            <a:ext cx="3557362" cy="6255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frontend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UI, cart, checkout (UX issues)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2626" y="2468213"/>
            <a:ext cx="0" cy="23352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84133" y="2795707"/>
            <a:ext cx="3557362" cy="625506"/>
          </a:xfrm>
          <a:prstGeom prst="roundRect">
            <a:avLst>
              <a:gd name="adj" fmla="val 10667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8781" y="2724245"/>
            <a:ext cx="3557362" cy="6255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backend 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profile, cart, order, purchase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39589" y="3684365"/>
            <a:ext cx="3735230" cy="625506"/>
          </a:xfrm>
          <a:prstGeom prst="roundRect">
            <a:avLst>
              <a:gd name="adj" fmla="val 10667"/>
            </a:avLst>
          </a:prstGeom>
          <a:solidFill>
            <a:srgbClr val="FCEBEB"/>
          </a:solidFill>
          <a:ln w="9525">
            <a:solidFill>
              <a:srgbClr val="E24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8781" y="3684365"/>
            <a:ext cx="3557362" cy="6255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limitations: UX friction in shopping cart, order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creation, and card purchase 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74152" y="91897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918972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devices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88552" y="1376172"/>
            <a:ext cx="0" cy="25603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45552" y="1632204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1632204"/>
            <a:ext cx="2286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celrevive.com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H="1">
            <a:off x="7731252" y="2135124"/>
            <a:ext cx="982980" cy="25603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42532" y="2391156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2532" y="2391156"/>
            <a:ext cx="2377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UI, cart, checkout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57132" y="2391156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7132" y="2391156"/>
            <a:ext cx="2377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enhancements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Questionnaire, image, recommendations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19972" y="2779776"/>
            <a:ext cx="137160" cy="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  <a:headEnd type="triangl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31252" y="3168396"/>
            <a:ext cx="0" cy="25603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245852" y="3168396"/>
            <a:ext cx="0" cy="256032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42532" y="3424428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2532" y="3424428"/>
            <a:ext cx="2377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profile, cart, orders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57132" y="3424428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7132" y="3424428"/>
            <a:ext cx="2377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enhanced APIs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image + profile, recommendations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19972" y="3813048"/>
            <a:ext cx="137160" cy="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  <a:headEnd type="triangl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42532" y="4384548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EAF3DE"/>
          </a:solidFill>
          <a:ln w="9525">
            <a:solidFill>
              <a:srgbClr val="6399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3972" y="4384548"/>
            <a:ext cx="47091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AI-powered personalization live, existing 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resolved end to end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6816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4DBF22-7E0B-C268-D7B9-1BFF28FF0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84442"/>
            <a:ext cx="11729884" cy="41399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5F7DED0-ED0A-C7BD-79FB-3E28F1E74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75" y="4224401"/>
            <a:ext cx="6794089" cy="256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3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6"/>
          <p:cNvSpPr/>
          <p:nvPr/>
        </p:nvSpPr>
        <p:spPr>
          <a:xfrm>
            <a:off x="8252460" y="1417320"/>
            <a:ext cx="777240" cy="777240"/>
          </a:xfrm>
          <a:prstGeom prst="ellipse">
            <a:avLst/>
          </a:prstGeom>
          <a:solidFill>
            <a:srgbClr val="50808E"/>
          </a:solidFill>
          <a:ln/>
          <a:effectLst>
            <a:outerShdw blurRad="76200" dist="25400" dir="5400000" algn="bl" rotWithShape="0">
              <a:srgbClr val="1F2A27">
                <a:alpha val="25000"/>
              </a:srgbClr>
            </a:outerShdw>
          </a:effectLst>
        </p:spPr>
      </p:sp>
      <p:pic>
        <p:nvPicPr>
          <p:cNvPr id="57" name="Image 3" descr="/home/claude/celrevive/icon_droplet_FFFFFF.png">
            <a:extLst>
              <a:ext uri="{FF2B5EF4-FFF2-40B4-BE49-F238E27FC236}">
                <a16:creationId xmlns="" xmlns:a16="http://schemas.microsoft.com/office/drawing/2014/main" id="{7CA2275A-0235-10E2-A359-97BBF364E47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389620" y="1593299"/>
            <a:ext cx="449199" cy="42062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0355580" y="1417320"/>
            <a:ext cx="777240" cy="777240"/>
          </a:xfrm>
          <a:prstGeom prst="ellipse">
            <a:avLst/>
          </a:prstGeom>
          <a:solidFill>
            <a:srgbClr val="50808E"/>
          </a:solidFill>
          <a:ln/>
          <a:effectLst>
            <a:outerShdw blurRad="76200" dist="25400" dir="5400000" algn="bl" rotWithShape="0">
              <a:srgbClr val="1F2A27">
                <a:alpha val="25000"/>
              </a:srgbClr>
            </a:outerShdw>
          </a:effectLst>
        </p:spPr>
      </p:sp>
      <p:pic>
        <p:nvPicPr>
          <p:cNvPr id="55" name="Image 4" descr="/home/claude/celrevive/icon_shield_FFFFFF.png">
            <a:extLst>
              <a:ext uri="{FF2B5EF4-FFF2-40B4-BE49-F238E27FC236}">
                <a16:creationId xmlns="" xmlns:a16="http://schemas.microsoft.com/office/drawing/2014/main" id="{F9CD27C0-B867-0638-E5B6-29535636EB4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0495026" y="1556766"/>
            <a:ext cx="498348" cy="49834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Formulation Architecture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37260" y="1417320"/>
            <a:ext cx="777240" cy="777240"/>
          </a:xfrm>
          <a:prstGeom prst="ellipse">
            <a:avLst/>
          </a:prstGeom>
          <a:solidFill>
            <a:srgbClr val="50808E"/>
          </a:solidFill>
          <a:ln/>
          <a:effectLst>
            <a:outerShdw blurRad="76200" dist="25400" dir="5400000" algn="bl" rotWithShape="0">
              <a:srgbClr val="1F2A27">
                <a:alpha val="25000"/>
              </a:srgbClr>
            </a:outerShdw>
          </a:effectLst>
        </p:spPr>
      </p:sp>
      <p:pic>
        <p:nvPicPr>
          <p:cNvPr id="5" name="Image 0" descr="/home/claude/celrevive/icon_camera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15956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Questionnaire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selfie &amp; skin profile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113471" y="1703070"/>
            <a:ext cx="479629" cy="288036"/>
          </a:xfrm>
          <a:prstGeom prst="rightArrow">
            <a:avLst/>
          </a:prstGeom>
          <a:solidFill>
            <a:srgbClr val="CFE3DB"/>
          </a:solidFill>
          <a:ln/>
        </p:spPr>
      </p:sp>
      <p:sp>
        <p:nvSpPr>
          <p:cNvPr id="9" name="Shape 6"/>
          <p:cNvSpPr/>
          <p:nvPr/>
        </p:nvSpPr>
        <p:spPr>
          <a:xfrm>
            <a:off x="3040380" y="1417320"/>
            <a:ext cx="777240" cy="777240"/>
          </a:xfrm>
          <a:prstGeom prst="ellipse">
            <a:avLst/>
          </a:prstGeom>
          <a:solidFill>
            <a:srgbClr val="50808E"/>
          </a:solidFill>
          <a:ln/>
          <a:effectLst>
            <a:outerShdw blurRad="76200" dist="25400" dir="5400000" algn="bl" rotWithShape="0">
              <a:srgbClr val="1F2A27">
                <a:alpha val="25000"/>
              </a:srgbClr>
            </a:outerShdw>
          </a:effectLst>
        </p:spPr>
      </p:sp>
      <p:pic>
        <p:nvPicPr>
          <p:cNvPr id="10" name="Image 1" descr="/home/claude/celrevive/icon_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15956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Skin Analysis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560320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reads skin concerns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062437" y="1685731"/>
            <a:ext cx="479629" cy="288036"/>
          </a:xfrm>
          <a:prstGeom prst="rightArrow">
            <a:avLst/>
          </a:prstGeom>
          <a:solidFill>
            <a:srgbClr val="CFE3DB"/>
          </a:solidFill>
          <a:ln/>
        </p:spPr>
      </p:sp>
      <p:sp>
        <p:nvSpPr>
          <p:cNvPr id="14" name="Shape 10"/>
          <p:cNvSpPr/>
          <p:nvPr/>
        </p:nvSpPr>
        <p:spPr>
          <a:xfrm>
            <a:off x="4663440" y="1097280"/>
            <a:ext cx="2743200" cy="2788920"/>
          </a:xfrm>
          <a:prstGeom prst="roundRect">
            <a:avLst>
              <a:gd name="adj" fmla="val 4000"/>
            </a:avLst>
          </a:prstGeom>
          <a:solidFill>
            <a:srgbClr val="F2F7F5"/>
          </a:solidFill>
          <a:ln w="19050">
            <a:solidFill>
              <a:srgbClr val="50808E"/>
            </a:solidFill>
            <a:prstDash val="solid"/>
          </a:ln>
          <a:effectLst>
            <a:outerShdw blurRad="101600" dist="38100" dir="5400000" algn="bl" rotWithShape="0">
              <a:srgbClr val="1F2A27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1"/>
          <p:cNvSpPr/>
          <p:nvPr/>
        </p:nvSpPr>
        <p:spPr>
          <a:xfrm>
            <a:off x="466344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IP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46420" y="1426464"/>
            <a:ext cx="777240" cy="777240"/>
          </a:xfrm>
          <a:prstGeom prst="ellipse">
            <a:avLst/>
          </a:prstGeom>
          <a:solidFill>
            <a:srgbClr val="3E6570"/>
          </a:solidFill>
          <a:ln/>
          <a:effectLst>
            <a:outerShdw blurRad="76200" dist="25400" dir="5400000" algn="bl" rotWithShape="0">
              <a:srgbClr val="1F2A27">
                <a:alpha val="25000"/>
              </a:srgbClr>
            </a:outerShdw>
          </a:effectLst>
        </p:spPr>
      </p:sp>
      <p:pic>
        <p:nvPicPr>
          <p:cNvPr id="17" name="Image 2" descr="/home/claude/celrevive/icon_cpu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160477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0600" y="23408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Formulation Engine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64608" y="2734056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concerns to the optimal active + base combination from a scientifically-scored ingredient library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594523" y="1695479"/>
            <a:ext cx="479629" cy="288036"/>
          </a:xfrm>
          <a:prstGeom prst="rightArrow">
            <a:avLst/>
          </a:prstGeom>
          <a:solidFill>
            <a:srgbClr val="CFE3DB"/>
          </a:solidFill>
          <a:ln/>
        </p:spPr>
      </p:sp>
      <p:pic>
        <p:nvPicPr>
          <p:cNvPr id="22" name="Image 3" descr="/home/claude/celrevive/icon_dropl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59562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Formulation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0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in plain language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52825" y="1695479"/>
            <a:ext cx="479629" cy="288036"/>
          </a:xfrm>
          <a:prstGeom prst="rightArrow">
            <a:avLst/>
          </a:prstGeom>
          <a:solidFill>
            <a:srgbClr val="CFE3DB"/>
          </a:solidFill>
          <a:ln/>
        </p:spPr>
      </p:sp>
      <p:pic>
        <p:nvPicPr>
          <p:cNvPr id="27" name="Image 4" descr="/home/claude/celrevive/icon_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8" y="1587002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755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875520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&amp; explainable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4434839"/>
            <a:ext cx="2606040" cy="1819311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 w="12700">
            <a:solidFill>
              <a:srgbClr val="CFE3D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58368" y="4636008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32" name="Image 5" descr="/home/claude/celrevive/icon_lin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" y="474116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Active–Base Matching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0080" y="55504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ingredient set and base are selected together — not sequentially — for maximum efficacy.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246120" y="4434839"/>
            <a:ext cx="2606040" cy="1819311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 w="12700">
            <a:solidFill>
              <a:srgbClr val="CFE3D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447288" y="4636008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37" name="Image 6" descr="/home/claude/celrevive/icon_layer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2444" y="4741164"/>
            <a:ext cx="246888" cy="2468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42900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Ranking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3429000" y="55504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base is scored against skin type, climate and sensitivity, not just filtered pass/fail.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035040" y="4434839"/>
            <a:ext cx="2606040" cy="1819311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 w="12700">
            <a:solidFill>
              <a:srgbClr val="CFE3DB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236208" y="4636008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42" name="Image 7" descr="/home/claude/celrevive/icon_slash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1364" y="4741164"/>
            <a:ext cx="246888" cy="2468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21792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Screening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6217920" y="55504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Ingredient–ingredient incompatibilities and pH conflicts are caught before a formula is generated.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8823960" y="4434839"/>
            <a:ext cx="2606040" cy="1819311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 w="12700">
            <a:solidFill>
              <a:srgbClr val="CFE3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6" name="Shape 36"/>
          <p:cNvSpPr/>
          <p:nvPr/>
        </p:nvSpPr>
        <p:spPr>
          <a:xfrm>
            <a:off x="9025128" y="4636008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pic>
        <p:nvPicPr>
          <p:cNvPr id="47" name="Image 8" descr="/home/claude/celrevive/icon_slider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0284" y="4741164"/>
            <a:ext cx="246888" cy="24688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00684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Explainability &amp; Auditing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9006840" y="55504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/>
              <a:t>Every step is clear and explainable ,  setting the stage for scaling and improvements from collected data</a:t>
            </a:r>
          </a:p>
        </p:txBody>
      </p:sp>
      <p:sp>
        <p:nvSpPr>
          <p:cNvPr id="50" name="Text 39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CelRevive × Anodiam  —  Confidential</a:t>
            </a:r>
            <a:endParaRPr lang="en-US" sz="900" dirty="0"/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BD2D191E-1C8D-3368-A64C-46AC700E9FE4}"/>
              </a:ext>
            </a:extLst>
          </p:cNvPr>
          <p:cNvSpPr/>
          <p:nvPr/>
        </p:nvSpPr>
        <p:spPr>
          <a:xfrm>
            <a:off x="1259025" y="1759702"/>
            <a:ext cx="138196" cy="13819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9" name="Graphic 58" descr="Clipboard with solid fill">
            <a:extLst>
              <a:ext uri="{FF2B5EF4-FFF2-40B4-BE49-F238E27FC236}">
                <a16:creationId xmlns="" xmlns:a16="http://schemas.microsoft.com/office/drawing/2014/main" id="{4EF3F6A8-B5D3-C43A-827C-2E4DE8EBA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16568" y="4713733"/>
            <a:ext cx="274319" cy="274319"/>
          </a:xfrm>
          <a:prstGeom prst="rect">
            <a:avLst/>
          </a:prstGeom>
        </p:spPr>
      </p:pic>
      <p:pic>
        <p:nvPicPr>
          <p:cNvPr id="65" name="Graphic 64" descr="Braille with solid fill">
            <a:extLst>
              <a:ext uri="{FF2B5EF4-FFF2-40B4-BE49-F238E27FC236}">
                <a16:creationId xmlns="" xmlns:a16="http://schemas.microsoft.com/office/drawing/2014/main" id="{4166A8F7-1360-E288-780D-131C62C9FC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11375" y="1693365"/>
            <a:ext cx="247329" cy="247329"/>
          </a:xfrm>
          <a:prstGeom prst="rect">
            <a:avLst/>
          </a:prstGeom>
        </p:spPr>
      </p:pic>
      <p:sp>
        <p:nvSpPr>
          <p:cNvPr id="66" name="Oval 65">
            <a:extLst>
              <a:ext uri="{FF2B5EF4-FFF2-40B4-BE49-F238E27FC236}">
                <a16:creationId xmlns="" xmlns:a16="http://schemas.microsoft.com/office/drawing/2014/main" id="{6D0123CD-9640-6F09-BD8B-DAF97891FDF8}"/>
              </a:ext>
            </a:extLst>
          </p:cNvPr>
          <p:cNvSpPr/>
          <p:nvPr/>
        </p:nvSpPr>
        <p:spPr>
          <a:xfrm>
            <a:off x="3351233" y="1724593"/>
            <a:ext cx="158122" cy="155448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401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" y="725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2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nirb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" t="4404" r="1343"/>
          <a:stretch>
            <a:fillRect/>
          </a:stretch>
        </p:blipFill>
        <p:spPr bwMode="auto">
          <a:xfrm>
            <a:off x="428625" y="2547054"/>
            <a:ext cx="1298576" cy="1211943"/>
          </a:xfrm>
          <a:custGeom>
            <a:avLst/>
            <a:gdLst>
              <a:gd name="connsiteX0" fmla="*/ 616857 w 1233714"/>
              <a:gd name="connsiteY0" fmla="*/ 0 h 1211943"/>
              <a:gd name="connsiteX1" fmla="*/ 1233714 w 1233714"/>
              <a:gd name="connsiteY1" fmla="*/ 605972 h 1211943"/>
              <a:gd name="connsiteX2" fmla="*/ 741175 w 1233714"/>
              <a:gd name="connsiteY2" fmla="*/ 1199633 h 1211943"/>
              <a:gd name="connsiteX3" fmla="*/ 616867 w 1233714"/>
              <a:gd name="connsiteY3" fmla="*/ 1211943 h 1211943"/>
              <a:gd name="connsiteX4" fmla="*/ 616847 w 1233714"/>
              <a:gd name="connsiteY4" fmla="*/ 1211943 h 1211943"/>
              <a:gd name="connsiteX5" fmla="*/ 492539 w 1233714"/>
              <a:gd name="connsiteY5" fmla="*/ 1199633 h 1211943"/>
              <a:gd name="connsiteX6" fmla="*/ 0 w 1233714"/>
              <a:gd name="connsiteY6" fmla="*/ 605972 h 1211943"/>
              <a:gd name="connsiteX7" fmla="*/ 616857 w 1233714"/>
              <a:gd name="connsiteY7" fmla="*/ 0 h 121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3714" h="1211943">
                <a:moveTo>
                  <a:pt x="616857" y="0"/>
                </a:moveTo>
                <a:cubicBezTo>
                  <a:pt x="957538" y="0"/>
                  <a:pt x="1233714" y="271303"/>
                  <a:pt x="1233714" y="605972"/>
                </a:cubicBezTo>
                <a:cubicBezTo>
                  <a:pt x="1233714" y="898807"/>
                  <a:pt x="1022267" y="1143128"/>
                  <a:pt x="741175" y="1199633"/>
                </a:cubicBezTo>
                <a:lnTo>
                  <a:pt x="616867" y="1211943"/>
                </a:lnTo>
                <a:lnTo>
                  <a:pt x="616847" y="1211943"/>
                </a:lnTo>
                <a:lnTo>
                  <a:pt x="492539" y="1199633"/>
                </a:lnTo>
                <a:cubicBezTo>
                  <a:pt x="211447" y="1143128"/>
                  <a:pt x="0" y="898807"/>
                  <a:pt x="0" y="605972"/>
                </a:cubicBezTo>
                <a:cubicBezTo>
                  <a:pt x="0" y="271303"/>
                  <a:pt x="276176" y="0"/>
                  <a:pt x="61685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1" b="24588"/>
          <a:stretch>
            <a:fillRect/>
          </a:stretch>
        </p:blipFill>
        <p:spPr>
          <a:xfrm>
            <a:off x="4421579" y="2554311"/>
            <a:ext cx="1219699" cy="1123731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16" name="Picture 15" descr="https://media-syd2-1.cdn.whatsapp.net/v/t61.24694-24/673766146_1765746481072988_3415667082389391663_n.jpg?ccb=11-4&amp;oh=01_Q5Aa4gG7q5wQKd1Ww2qS-55iQ0YfWzGocvWsVFDRbEgpvNsBzg&amp;oe=6A2BE447&amp;_nc_sid=5e03e0&amp;_nc_cat=1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38" b="21414"/>
          <a:stretch>
            <a:fillRect/>
          </a:stretch>
        </p:blipFill>
        <p:spPr bwMode="auto">
          <a:xfrm>
            <a:off x="8129719" y="2536744"/>
            <a:ext cx="1239252" cy="1163668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rcRect l="4050" t="468" r="4050" b="16598"/>
          <a:stretch>
            <a:fillRect/>
          </a:stretch>
        </p:blipFill>
        <p:spPr>
          <a:xfrm>
            <a:off x="399596" y="4417416"/>
            <a:ext cx="1363889" cy="1228642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rcRect l="7544" t="3682" r="7544" b="21159"/>
          <a:stretch>
            <a:fillRect/>
          </a:stretch>
        </p:blipFill>
        <p:spPr>
          <a:xfrm>
            <a:off x="4422818" y="4476347"/>
            <a:ext cx="1203946" cy="1140681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1" t="38780" r="39411" b="51780"/>
          <a:stretch>
            <a:fillRect/>
          </a:stretch>
        </p:blipFill>
        <p:spPr>
          <a:xfrm>
            <a:off x="8129719" y="4461830"/>
            <a:ext cx="1225563" cy="1184227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8979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1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3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346</Words>
  <Application>Microsoft Office PowerPoint</Application>
  <PresentationFormat>Widescreen</PresentationFormat>
  <Paragraphs>78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9</cp:revision>
  <dcterms:created xsi:type="dcterms:W3CDTF">2026-06-02T08:43:08Z</dcterms:created>
  <dcterms:modified xsi:type="dcterms:W3CDTF">2026-08-03T00:44:17Z</dcterms:modified>
</cp:coreProperties>
</file>